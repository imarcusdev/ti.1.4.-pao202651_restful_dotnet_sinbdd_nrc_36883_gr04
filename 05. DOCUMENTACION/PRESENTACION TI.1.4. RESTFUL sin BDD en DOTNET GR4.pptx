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5"/>
  </p:notesMasterIdLst>
  <p:sldIdLst>
    <p:sldId id="330" r:id="rId2"/>
    <p:sldId id="331" r:id="rId3"/>
    <p:sldId id="332" r:id="rId4"/>
    <p:sldId id="337" r:id="rId5"/>
    <p:sldId id="338" r:id="rId6"/>
    <p:sldId id="339" r:id="rId7"/>
    <p:sldId id="340" r:id="rId8"/>
    <p:sldId id="341" r:id="rId9"/>
    <p:sldId id="342" r:id="rId10"/>
    <p:sldId id="343" r:id="rId11"/>
    <p:sldId id="344" r:id="rId12"/>
    <p:sldId id="345" r:id="rId13"/>
    <p:sldId id="346" r:id="rId14"/>
    <p:sldId id="347" r:id="rId15"/>
    <p:sldId id="348" r:id="rId16"/>
    <p:sldId id="349" r:id="rId17"/>
    <p:sldId id="350" r:id="rId18"/>
    <p:sldId id="351" r:id="rId19"/>
    <p:sldId id="352" r:id="rId20"/>
    <p:sldId id="353" r:id="rId21"/>
    <p:sldId id="354" r:id="rId22"/>
    <p:sldId id="357" r:id="rId23"/>
    <p:sldId id="358" r:id="rId24"/>
  </p:sldIdLst>
  <p:sldSz cx="12192000" cy="6858000"/>
  <p:notesSz cx="6858000" cy="9144000"/>
  <p:embeddedFontLst>
    <p:embeddedFont>
      <p:font typeface="Cambria" panose="02040503050406030204" pitchFamily="18" charset="0"/>
      <p:regular r:id="rId26"/>
      <p:bold r:id="rId27"/>
      <p:italic r:id="rId28"/>
      <p:boldItalic r:id="rId29"/>
    </p:embeddedFont>
    <p:embeddedFont>
      <p:font typeface="Gill Sans" panose="020B0604020202020204" charset="0"/>
      <p:regular r:id="rId30"/>
      <p:bold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F136021-7255-42B7-A7E7-87A8D8FFE9CA}">
  <a:tblStyle styleId="{BF136021-7255-42B7-A7E7-87A8D8FFE9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49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MX">
                <a:solidFill>
                  <a:schemeClr val="lt1"/>
                </a:solidFill>
              </a:rPr>
              <a:t>MANUAL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CONVERSIÓN UNIDADES RESTFUL .NET</a:t>
            </a: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599226" y="47625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  <a:tabLst>
                <a:tab pos="1905000" algn="l"/>
              </a:tabLst>
            </a:pPr>
            <a:r>
              <a:rPr lang="es-EC" b="1">
                <a:solidFill>
                  <a:schemeClr val="lt1"/>
                </a:solidFill>
              </a:rPr>
              <a:t>INTEGRANTES:</a:t>
            </a:r>
            <a:r>
              <a:rPr lang="es-EC">
                <a:solidFill>
                  <a:schemeClr val="lt1"/>
                </a:solidFill>
              </a:rPr>
              <a:t>	ESCOBAR MARCOS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ÑATO CARLOS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SOSA DIEGO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3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037063" y="4978400"/>
            <a:ext cx="4261531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 [dd/mm/aaaa]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CAMPAÑA MAURICIO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NRC: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36883 – GR04</a:t>
            </a:r>
            <a:endParaRPr sz="160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49329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DESARROLLO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OBJETIVO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SERVIDOR RESTFUL EN .NET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CONSOLA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ESCRITORIO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WEB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MÓVIL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CONCLUSIONES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RECOMENDACIONES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endParaRPr sz="1700">
              <a:solidFill>
                <a:srgbClr val="FFFFFF"/>
              </a:solidFill>
              <a:latin typeface="Gill Sans" panose="020B0604020202020204" charset="0"/>
            </a:endParaRPr>
          </a:p>
        </p:txBody>
      </p:sp>
      <p:pic>
        <p:nvPicPr>
          <p:cNvPr id="108" name="Google Shape;108;p14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55962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1.1	OBJETIVO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 general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Desarrollar un sistema de conversión de unidades basado en un servicio web RESTful en .NET, sin base de datos, consumido por clientes de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Objetivos específicos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Implementar el servidor RESTful con autenticación por token y conversión de seis magnitudes.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Construir los cuatro clientes aplicando el patrón MVC.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6340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	CREACIÓN DEL SERVIDOR RESTFUL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ES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ASP.NET Core Web API · http://localhost:5013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ES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1.2.1	Creación del proyecto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Crear un proyecto ASP.NET Core Web API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Nombrarlo WS_CON_UNI_DOTNET_RESTful (también es su espacio de nombres).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Configurar Kestrel en http://0.0.0.0:5013 (launchSettings.json).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Agregar las dependencias: Microsoft.AspNetCore.OpenApi 10.0.12.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09488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1.2.2	Estructura del proyecto (MVC)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Controladores: LoginController y ConverterController.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Modelos: DTO de respuesta, datos de conversión por magnitud y enumeraciones.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Servicios: TokenService genera y valida el token de sesión.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Endpoints REST (LoginEndpoint, CatalogEndpoint y ConverterEndpoint): exponen las operaciones al exterior.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7259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1.2.3	Operaciones expuestas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853CF46-56CE-92A6-2EB6-D387AE33F3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256841"/>
              </p:ext>
            </p:extLst>
          </p:nvPr>
        </p:nvGraphicFramePr>
        <p:xfrm>
          <a:off x="584200" y="2680042"/>
          <a:ext cx="8585200" cy="101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0788">
                  <a:extLst>
                    <a:ext uri="{9D8B030D-6E8A-4147-A177-3AD203B41FA5}">
                      <a16:colId xmlns:a16="http://schemas.microsoft.com/office/drawing/2014/main" val="2515735965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2916300461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223148422"/>
                    </a:ext>
                  </a:extLst>
                </a:gridCol>
                <a:gridCol w="3382049">
                  <a:extLst>
                    <a:ext uri="{9D8B030D-6E8A-4147-A177-3AD203B41FA5}">
                      <a16:colId xmlns:a16="http://schemas.microsoft.com/office/drawing/2014/main" val="3297557932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Operación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Entrada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Salida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Descripción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760717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Login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usuario, clave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Valida las credenciales y entrega un token de sesión.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930679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Catálogo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lista de unidades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Devuelve las unidades disponibles de una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87236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Conversión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magnitud, valor, desde, hacia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resultado,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Convierte un valor entre dos unidades de la misma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405111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C29C891-F506-8311-E031-1FA9CDB6BD03}"/>
              </a:ext>
            </a:extLst>
          </p:cNvPr>
          <p:cNvSpPr txBox="1"/>
          <p:nvPr/>
        </p:nvSpPr>
        <p:spPr>
          <a:xfrm>
            <a:off x="584200" y="4417402"/>
            <a:ext cx="85852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Rutas en este proyecto:  login → POST /login  ·  catálogo → GET /catalog/{tipo}  ·  conversión → POST /converter</a:t>
            </a:r>
          </a:p>
        </p:txBody>
      </p:sp>
    </p:spTree>
    <p:extLst>
      <p:ext uri="{BB962C8B-B14F-4D97-AF65-F5344CB8AC3E}">
        <p14:creationId xmlns:p14="http://schemas.microsoft.com/office/powerpoint/2010/main" val="1214661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1.2.4	Magnitudes y unidades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7A98E1E-424B-3481-5D10-7508DAC39E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0495625"/>
              </p:ext>
            </p:extLst>
          </p:nvPr>
        </p:nvGraphicFramePr>
        <p:xfrm>
          <a:off x="584200" y="2680042"/>
          <a:ext cx="8585200" cy="177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46300">
                  <a:extLst>
                    <a:ext uri="{9D8B030D-6E8A-4147-A177-3AD203B41FA5}">
                      <a16:colId xmlns:a16="http://schemas.microsoft.com/office/drawing/2014/main" val="2282152221"/>
                    </a:ext>
                  </a:extLst>
                </a:gridCol>
                <a:gridCol w="6438900">
                  <a:extLst>
                    <a:ext uri="{9D8B030D-6E8A-4147-A177-3AD203B41FA5}">
                      <a16:colId xmlns:a16="http://schemas.microsoft.com/office/drawing/2014/main" val="258459101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Unidades soportadas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30905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Longitud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 · cm · ft · yd · mi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127367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Masa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g · kg · oz · lb · qq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50188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Volumen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de-DE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mL · L · m3 · ft3 · gal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814449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Tiempo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l-PL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ms · s · min · h · d · w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283076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Temperatura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t-BR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°C · °F · K · °N · °Ré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3499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Área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cm2 · m2 · km2 · ha · ft2 · ac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34248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1004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1.2.5	Código clave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[ApiController] y [Route] publican el recurso POST /converter; ASP.NET Core convierte el JSON en ConvertRequestDTO.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Responde 200 con el resultado o 401 si el token del encabezado Authorization no es válido.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76684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[ApiController]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[Route("converter")]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ConverterEndpoint : ControllerBase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[HttpPost]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ActionResult&lt;ConverterResponseDTO&gt; 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[FromHeader(Name = "Authorization")]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[FromBody] ConvertRequestDTO req)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(!LoginController.ValidateUser(token))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Unauthorized(new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EstadosEnum.ERROR, "Token Inválido", 0));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Ok(new ConverterResponseDTO(EstadosEnum.OK,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"Conversión Exitosa", ConverterController.Convert(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req.type ?? "", req.value, req.from ?? "", req.to ?? "")));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7053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1.2.6	Ejecución del servidor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Ejecutar el servidor desde Visual Studio 2026 o con dotnet run.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Comprobar el endpoint en http://localhost:5013/login (POST con JSON).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Usuario de prueba: user / 1234.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024494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	CREACIÓN DEL PROYECTO – CLIENTE CONSOLA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.NET 10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CONSOLE_CON_UNI_DOTNET_RESTful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menú en la terminal.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39879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HttpClient envía la petición con el token en el encabezado Authorization y devuelve el JSON como texto.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Las llamadas son asíncronas (async/await) para no bloquear el menú mientras responde el servidor.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825438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internal class RESTfulClient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baseUrl = "http://localhost:5000/";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HttpClient http = new HttpClient();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Task&lt;string&gt; GetAsync(string endpoint, 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using HttpRequestMessage request = new HttpRequestMessage(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HttpMethod.Get, baseUrl + endpoint);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request.Headers.Add("Accept",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request.Headers.Add("Authorization",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using HttpResponseMessage response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await http.SendAsync(request);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response.Content.ReadAsStringAsync();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99071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3CC6895-9F9B-AF13-7091-FBE97BBA6CA3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7000A303-6A94-CFE9-1425-A50805EDACE6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30EF05-5BFC-2AE7-9AFE-A4FADDB0FFD2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43962DC6-A79C-52B9-1306-39802F69A5F9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8A02A9-C5E0-9F73-063C-1D09BCB918A8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9BF6A363-5757-7B97-A751-51A0AC1A5F8C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26207800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	CREACIÓN DEL PROYECTO – CLIENTE ESCRITORIO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WinForms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ESC_CON_UNI_DOTNET_RESTful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ventanas de login y principal.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564615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Arma las peticiones POST con cuerpo JSON hacia http://localhost:5013 y agrega el token cuando hay sesión.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HttpClient tiene un tiempo de espera de 15 s para que la ventana no quede esperando sin fin.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55757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Task&lt;string&gt; PostAsync(EndpointsEnum endpoint,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json,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peticion = Peticion(HttpMethod.Post,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endpoint.ToString(),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peticion.Content = new StringContent(json,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Encoding.UTF8,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EnviarAsync(peticion);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private HttpRequestMessage Peticion(HttpMethod metodo,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recurso,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peticion = new HttpRequestMessage(metodo, urlBase + recurso);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peticion.Headers.Accept.ParseAdd("application/json");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(token !=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peticion.Headers.TryAddWithoutValidation("Authorization",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peticion;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26975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E40D37B-A419-ACA5-993C-C7CCBC4AB201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BAA0578F-2CA7-5766-1DCA-5C3A8FDE0742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4754B3-24E3-2F23-4866-2196E68AE806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212CAC36-DA98-0236-B81E-D6AFDEE3824E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2DED42-0D9F-0BF7-8368-492B87D4022E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9E6EE889-17B1-E86F-E848-585995A9ABAB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8149338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	CREACIÓN DEL PROYECTO – CLIENTE WEB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ASP.NET Core MVC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WEB_CON_UNI_DOTNET_RESTful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páginas de login, menú,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934797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controlador MVC recibe el formulario y llama a la API REST a través de ConversorServicio y RESTfulClient.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Si el login falla, vuelve a mostrar la vista con el mensaje; si funciona, guarda la sesión y va al menú.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99778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[HttpPost("/login")]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async Task&lt;IActionResult&gt; Ingresar(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string? usuario, string? clave)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vista = new LoginVista { Usuario = usuario ?? ""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... validación de campos vacíos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await fabrica.CrearServicio(sesion)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.IniciarSesionAsync(usuario.Trim(),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catch (ServicioException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vista.Error = e.Message;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VistaAsync(vista);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SesionUsuario.Guardar(HttpContext,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Redirect("~/menu");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1979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DDFE14-8DF9-5263-B278-70EE7B5C778B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6CE6F57F-08DF-38F3-DF9A-F0AC073D2E2A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91ABDA-FEDD-7366-EC3E-6AA0B31052DC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6E6FF01F-0DAA-C6ED-89B8-560777E2A711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F5F1EB-07CB-4776-FC14-80940F3D5383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20AED486-7A75-B45E-0724-000E81903882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21916928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	CREACIÓN DEL PROYECTO – CLIENTE MÓVIL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.NET MAUI (Android)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MOV_CON_UNI_DOTNET_RESTFUL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pantallas de login,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376427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app MAUI usa HttpClient con la URL base de RestConfig y envía el token en Authorization.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Devuelve el código HTTP y el cuerpo para que el controlador muestre el mensaje del servidor si hay error.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523115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Task&lt;RespuestaHttp&gt; PostJsonAsync(string ruta,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json,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peticion = new HttpRequestMessage(HttpMethod.Post, ruta)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Content = new StringContent(json, Encoding.UTF8,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"application/json"),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EnviarAsync(peticion,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private async Task&lt;RespuestaHttp&gt; EnviarAsync(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HttpRequestMessage peticion,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peticion.Headers.Accept.ParseAdd("application/json");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(token is not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peticion.Headers.TryAddWithoutValidation("Authorization",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using var respuesta = await _http.SendAsync(peticion);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cuerpo = await respuesta.Content.ReadAsStringAsync();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new RespuestaHttp((int)respuesta.StatusCode,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respuesta.ReasonPhrase, cuerpo);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24551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C93915-812D-65D8-0E45-62D84FEB4F80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3FA54117-F9EC-DBE6-6C83-F359B4F08DA8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9ACCC9-4F19-5DA4-28BF-DDCDAE5768B8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E79A8FD9-28BA-2D0A-0B54-6389AB2C4BDD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644BC0-CCED-6A7F-A46D-F8C4D97827C8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B241C30A-9635-D07C-E1CA-EB873FF3CE33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265360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RESTful fue consumido por cuatro clientes distintos sin cambiar su lógica, lo que muestra la interoperabilidad de una arquitectura orientada a servicios.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autenticación por token separa la seguridad de la lógica de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Aplicar MVC en cada cliente permitió repetir la misma estructura en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ASP.NET Core Web API devolvió códigos HTTP claros (200, 400 y 401) según el resultado de cada operación.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939347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una base de datos para los usuarios y el historial de conversiones.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HTTPS para proteger el token en la red.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Validar en el servidor que las dos unidades pertenezcan a la magnitud elegida.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Activar la documentación OpenAPI ya incluida para probar los endpoints desde el navegador.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43451617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2528</Words>
  <Application>Microsoft Office PowerPoint</Application>
  <PresentationFormat>Widescreen</PresentationFormat>
  <Paragraphs>465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Gill Sans</vt:lpstr>
      <vt:lpstr>Calibri</vt:lpstr>
      <vt:lpstr>Cambria</vt:lpstr>
      <vt:lpstr>Noto Sans Symbols</vt:lpstr>
      <vt:lpstr>Dividendo</vt:lpstr>
      <vt:lpstr>MANUAL CONVERSIÓN UNIDADES RESTFUL .NET</vt:lpstr>
      <vt:lpstr>PowerPoint Presentation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Carlos</cp:lastModifiedBy>
  <cp:revision>3</cp:revision>
  <dcterms:modified xsi:type="dcterms:W3CDTF">2026-10-27T14:48:11Z</dcterms:modified>
</cp:coreProperties>
</file>