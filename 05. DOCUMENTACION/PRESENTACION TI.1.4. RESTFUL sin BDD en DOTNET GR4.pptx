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330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</p:sldIdLst>
  <p:sldSz cx="12192000" cy="6858000"/>
  <p:notesSz cx="6858000" cy="9144000"/>
  <p:embeddedFontLs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Gill Sans" panose="020B0604020202020204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MX">
                <a:solidFill>
                  <a:schemeClr val="lt1"/>
                </a:solidFill>
              </a:rPr>
              <a:t>MANUAL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CONVERSIÓN UNIDADES RESTFUL .NET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7625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tabLst>
                <a:tab pos="1905000" algn="l"/>
              </a:tabLst>
            </a:pPr>
            <a:r>
              <a:rPr lang="es-EC" b="1">
                <a:solidFill>
                  <a:schemeClr val="lt1"/>
                </a:solidFill>
              </a:rPr>
              <a:t>INTEGRANTES:</a:t>
            </a:r>
            <a:r>
              <a:rPr lang="es-EC">
                <a:solidFill>
                  <a:schemeClr val="lt1"/>
                </a:solidFill>
              </a:rPr>
              <a:t>	ESCOBAR MARCOS</a:t>
            </a:r>
            <a:br>
              <a:rPr lang="es-EC">
                <a:solidFill>
                  <a:schemeClr val="lt1"/>
                </a:solidFill>
              </a:rPr>
            </a:br>
            <a:r>
              <a:rPr lang="es-EC">
                <a:solidFill>
                  <a:schemeClr val="lt1"/>
                </a:solidFill>
              </a:rPr>
              <a:t>	ÑATO CARLOS</a:t>
            </a:r>
            <a:br>
              <a:rPr lang="es-EC">
                <a:solidFill>
                  <a:schemeClr val="lt1"/>
                </a:solidFill>
              </a:rPr>
            </a:br>
            <a:r>
              <a:rPr lang="es-EC">
                <a:solidFill>
                  <a:schemeClr val="lt1"/>
                </a:solidFill>
              </a:rPr>
              <a:t>	SOSA DIEGO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4978400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 [dd/mm/aaaa]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CAMPAÑA MAURICIO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MX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NRC:</a:t>
            </a:r>
            <a:r>
              <a:rPr lang="es-MX" sz="160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 36883 – GR04</a:t>
            </a:r>
            <a:endParaRPr sz="160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9329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DESARROLLO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OBJETIVO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MARCO TEÓRICO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SERVIDOR RESTFUL EN .NET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CONSOLA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ESCRITORIO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WEB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CREACIÓN DEL PROYECTO – CLIENTE MÓVIL</a:t>
            </a:r>
          </a:p>
          <a:p>
            <a:pPr marL="629920" lvl="1" indent="-320040">
              <a:buClr>
                <a:srgbClr val="4590B8"/>
              </a:buClr>
            </a:pPr>
            <a:r>
              <a:rPr lang="es-MX" sz="1400">
                <a:solidFill>
                  <a:srgbClr val="FFFFFF"/>
                </a:solidFill>
                <a:latin typeface="Gill Sans" panose="020B0604020202020204" charset="0"/>
              </a:rPr>
              <a:t>PRUEBAS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CONCLUSIONES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RECOMENDACIONES</a:t>
            </a:r>
          </a:p>
          <a:p>
            <a:pPr marL="305943" indent="-305943">
              <a:spcBef>
                <a:spcPts val="600"/>
              </a:spcBef>
              <a:buClr>
                <a:srgbClr val="4590B8"/>
              </a:buClr>
            </a:pPr>
            <a:r>
              <a:rPr lang="es-MX" sz="1700">
                <a:solidFill>
                  <a:srgbClr val="FFFFFF"/>
                </a:solidFill>
                <a:latin typeface="Gill Sans" panose="020B0604020202020204" charset="0"/>
              </a:rPr>
              <a:t>REFERENCIAS</a:t>
            </a:r>
            <a:endParaRPr sz="1700">
              <a:solidFill>
                <a:srgbClr val="FFFFFF"/>
              </a:solidFill>
              <a:latin typeface="Gill Sans" panose="020B0604020202020204" charset="0"/>
            </a:endParaRPr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596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1.1	OBJETIVO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Objetivo general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Desarrollar un sistema de conversión de unidades basado en un servicio web RESTful en .NET, sin base de datos, consumido por clientes de consola, escritorio, web y móvil.</a:t>
            </a: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Objetivos específicos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Implementar el servidor RESTful con autenticación por token y conversión de seis magnitudes.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Construir los cuatro clientes aplicando el patrón MVC.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Verificar el funcionamiento de cada cliente contra el servidor mediante pruebas.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634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	MARCO TEÓRICO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Conceptos base y visión general del sistema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1.2.1	REST y JSON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Expone recursos por URL que se usan con verbos HTTP (GET, POST) e intercambian datos en JSON.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Ventaja: los mensajes JSON son livianos y cualquier cliente HTTP los consume sin generar código.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875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1.2.2	Arquitectura SOA y patrón MVC</a:t>
            </a:r>
          </a:p>
          <a:p>
            <a:pPr marL="342900" indent="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6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Arquitectura orientada a servicios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6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servidor expone la lógica como servicios que se consumen por red.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6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Clientes en distintas plataformas usan el mismo servicio sin conocer su implementación.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6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Cada parte se desarrolla y despliega por separado.</a:t>
            </a:r>
          </a:p>
          <a:p>
            <a:pPr marL="342900" indent="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6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Modelo-Vista-Controlador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6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datos y conexión con el servidor.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6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pantallas o páginas que ve 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6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recibe las acciones del usuario, usa el modelo y actualiza la vista.</a:t>
            </a:r>
            <a:endParaRPr sz="16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8762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1.2.3	Tecnologías utilizadas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07D302-057F-0080-B669-0F222A2D5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691670"/>
              </p:ext>
            </p:extLst>
          </p:nvPr>
        </p:nvGraphicFramePr>
        <p:xfrm>
          <a:off x="584200" y="2680042"/>
          <a:ext cx="8585200" cy="177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2983">
                  <a:extLst>
                    <a:ext uri="{9D8B030D-6E8A-4147-A177-3AD203B41FA5}">
                      <a16:colId xmlns:a16="http://schemas.microsoft.com/office/drawing/2014/main" val="3284902249"/>
                    </a:ext>
                  </a:extLst>
                </a:gridCol>
                <a:gridCol w="4105965">
                  <a:extLst>
                    <a:ext uri="{9D8B030D-6E8A-4147-A177-3AD203B41FA5}">
                      <a16:colId xmlns:a16="http://schemas.microsoft.com/office/drawing/2014/main" val="3422611850"/>
                    </a:ext>
                  </a:extLst>
                </a:gridCol>
                <a:gridCol w="2426252">
                  <a:extLst>
                    <a:ext uri="{9D8B030D-6E8A-4147-A177-3AD203B41FA5}">
                      <a16:colId xmlns:a16="http://schemas.microsoft.com/office/drawing/2014/main" val="275149761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Componente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Tecnología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Versión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03476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Servidor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ASP.NET Core Web API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.NET 10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53349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Cliente consola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.NET + HttpClient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.NET 10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2844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Cliente escritorio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WinForms + HttpClient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.NET 10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6791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Cliente web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fr-FR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ASP.NET Core MVC + HttpClient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.NET 10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34062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Cliente móvil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.NET MAUI (Android) + HttpClient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.NET 10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04775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Herramientas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pt-BR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Visual Studio 2026, NuGet, emulador Android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VS 2026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304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01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1.2.4	Arquitectura del sistema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BB31ED-46B9-E1EF-D95B-B06C289ED8E4}"/>
              </a:ext>
            </a:extLst>
          </p:cNvPr>
          <p:cNvSpPr/>
          <p:nvPr/>
        </p:nvSpPr>
        <p:spPr>
          <a:xfrm>
            <a:off x="3683000" y="3696042"/>
            <a:ext cx="2159000" cy="1168400"/>
          </a:xfrm>
          <a:prstGeom prst="roundRect">
            <a:avLst>
              <a:gd name="adj" fmla="val 12000"/>
            </a:avLst>
          </a:prstGeom>
          <a:solidFill>
            <a:srgbClr val="1A326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r>
              <a:rPr lang="es-EC" b="1">
                <a:solidFill>
                  <a:srgbClr val="FFFFFF"/>
                </a:solidFill>
                <a:latin typeface="Gill Sans" panose="020B0604020202020204" charset="0"/>
              </a:rPr>
              <a:t>Servidor RESTful</a:t>
            </a:r>
          </a:p>
          <a:p>
            <a:pPr algn="ctr"/>
            <a:r>
              <a:rPr lang="es-EC" sz="1100">
                <a:solidFill>
                  <a:srgbClr val="D6E2F0"/>
                </a:solidFill>
                <a:latin typeface="Cambria" panose="02040503050406030204" pitchFamily="18" charset="0"/>
              </a:rPr>
              <a:t>.NET · localhost:5013</a:t>
            </a:r>
          </a:p>
          <a:p>
            <a:pPr algn="ctr"/>
            <a:r>
              <a:rPr lang="es-EC" sz="1100">
                <a:solidFill>
                  <a:srgbClr val="D6E2F0"/>
                </a:solidFill>
                <a:latin typeface="Cambria" panose="02040503050406030204" pitchFamily="18" charset="0"/>
              </a:rPr>
              <a:t>login · catálogo · conversión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D3F32A8-5366-9E60-82E7-340FA03FA3FF}"/>
              </a:ext>
            </a:extLst>
          </p:cNvPr>
          <p:cNvSpPr/>
          <p:nvPr/>
        </p:nvSpPr>
        <p:spPr>
          <a:xfrm>
            <a:off x="711200" y="2832442"/>
            <a:ext cx="2082800" cy="711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4590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lang="es-EC" sz="1300" b="1">
                <a:solidFill>
                  <a:srgbClr val="1A3260"/>
                </a:solidFill>
                <a:latin typeface="Gill Sans" panose="020B0604020202020204" charset="0"/>
              </a:rPr>
              <a:t>Cliente consola</a:t>
            </a:r>
          </a:p>
          <a:p>
            <a:pPr algn="ctr"/>
            <a:r>
              <a:rPr lang="es-EC" sz="1100">
                <a:solidFill>
                  <a:srgbClr val="6B7280"/>
                </a:solidFill>
                <a:latin typeface="Cambria" panose="02040503050406030204" pitchFamily="18" charset="0"/>
              </a:rPr>
              <a:t>.NET (consola)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777C1B-D56F-5E9C-9979-C6E9CA8B17B0}"/>
              </a:ext>
            </a:extLst>
          </p:cNvPr>
          <p:cNvCxnSpPr/>
          <p:nvPr/>
        </p:nvCxnSpPr>
        <p:spPr>
          <a:xfrm>
            <a:off x="2794000" y="3188042"/>
            <a:ext cx="889000" cy="762000"/>
          </a:xfrm>
          <a:prstGeom prst="line">
            <a:avLst/>
          </a:prstGeom>
          <a:ln w="19050">
            <a:solidFill>
              <a:srgbClr val="4590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E76058-74E6-DE89-6BF2-4E7821A5A245}"/>
              </a:ext>
            </a:extLst>
          </p:cNvPr>
          <p:cNvSpPr/>
          <p:nvPr/>
        </p:nvSpPr>
        <p:spPr>
          <a:xfrm>
            <a:off x="6731000" y="2832442"/>
            <a:ext cx="2082800" cy="711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4590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lang="es-EC" sz="1300" b="1">
                <a:solidFill>
                  <a:srgbClr val="1A3260"/>
                </a:solidFill>
                <a:latin typeface="Gill Sans" panose="020B0604020202020204" charset="0"/>
              </a:rPr>
              <a:t>Cliente web</a:t>
            </a:r>
          </a:p>
          <a:p>
            <a:pPr algn="ctr"/>
            <a:r>
              <a:rPr lang="es-EC" sz="1100">
                <a:solidFill>
                  <a:srgbClr val="6B7280"/>
                </a:solidFill>
                <a:latin typeface="Cambria" panose="02040503050406030204" pitchFamily="18" charset="0"/>
              </a:rPr>
              <a:t>ASP.NET Core MVC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F34902-7FF6-11ED-41CD-28E3D366CFAA}"/>
              </a:ext>
            </a:extLst>
          </p:cNvPr>
          <p:cNvCxnSpPr/>
          <p:nvPr/>
        </p:nvCxnSpPr>
        <p:spPr>
          <a:xfrm flipH="1">
            <a:off x="5842000" y="3188042"/>
            <a:ext cx="889000" cy="762000"/>
          </a:xfrm>
          <a:prstGeom prst="line">
            <a:avLst/>
          </a:prstGeom>
          <a:ln w="19050">
            <a:solidFill>
              <a:srgbClr val="4590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A1BA4C-AEE0-D14E-C48F-055512F1C6A1}"/>
              </a:ext>
            </a:extLst>
          </p:cNvPr>
          <p:cNvSpPr/>
          <p:nvPr/>
        </p:nvSpPr>
        <p:spPr>
          <a:xfrm>
            <a:off x="711200" y="4966042"/>
            <a:ext cx="2082800" cy="711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4590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lang="es-EC" sz="1300" b="1">
                <a:solidFill>
                  <a:srgbClr val="1A3260"/>
                </a:solidFill>
                <a:latin typeface="Gill Sans" panose="020B0604020202020204" charset="0"/>
              </a:rPr>
              <a:t>Cliente escritorio</a:t>
            </a:r>
          </a:p>
          <a:p>
            <a:pPr algn="ctr"/>
            <a:r>
              <a:rPr lang="es-EC" sz="1100">
                <a:solidFill>
                  <a:srgbClr val="6B7280"/>
                </a:solidFill>
                <a:latin typeface="Cambria" panose="02040503050406030204" pitchFamily="18" charset="0"/>
              </a:rPr>
              <a:t>WinForms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2104CF0-7902-7801-4A71-6B5EFE2C31B3}"/>
              </a:ext>
            </a:extLst>
          </p:cNvPr>
          <p:cNvCxnSpPr/>
          <p:nvPr/>
        </p:nvCxnSpPr>
        <p:spPr>
          <a:xfrm flipV="1">
            <a:off x="2794000" y="4610442"/>
            <a:ext cx="889000" cy="711200"/>
          </a:xfrm>
          <a:prstGeom prst="line">
            <a:avLst/>
          </a:prstGeom>
          <a:ln w="19050">
            <a:solidFill>
              <a:srgbClr val="4590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949C86-12B6-3B79-C44E-3E7D6EDA5238}"/>
              </a:ext>
            </a:extLst>
          </p:cNvPr>
          <p:cNvSpPr/>
          <p:nvPr/>
        </p:nvSpPr>
        <p:spPr>
          <a:xfrm>
            <a:off x="6731000" y="4966042"/>
            <a:ext cx="2082800" cy="7112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4590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lang="es-EC" sz="1300" b="1">
                <a:solidFill>
                  <a:srgbClr val="1A3260"/>
                </a:solidFill>
                <a:latin typeface="Gill Sans" panose="020B0604020202020204" charset="0"/>
              </a:rPr>
              <a:t>Cliente móvil</a:t>
            </a:r>
          </a:p>
          <a:p>
            <a:pPr algn="ctr"/>
            <a:r>
              <a:rPr lang="es-EC" sz="1100">
                <a:solidFill>
                  <a:srgbClr val="6B7280"/>
                </a:solidFill>
                <a:latin typeface="Cambria" panose="02040503050406030204" pitchFamily="18" charset="0"/>
              </a:rPr>
              <a:t>.NET MAUI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9F2942-DBD4-6591-CBE7-D757AFB0F375}"/>
              </a:ext>
            </a:extLst>
          </p:cNvPr>
          <p:cNvCxnSpPr/>
          <p:nvPr/>
        </p:nvCxnSpPr>
        <p:spPr>
          <a:xfrm flipH="1" flipV="1">
            <a:off x="5842000" y="4610442"/>
            <a:ext cx="889000" cy="711200"/>
          </a:xfrm>
          <a:prstGeom prst="line">
            <a:avLst/>
          </a:prstGeom>
          <a:ln w="19050">
            <a:solidFill>
              <a:srgbClr val="4590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A85686-4603-3945-D67A-F7D56D0DF5F9}"/>
              </a:ext>
            </a:extLst>
          </p:cNvPr>
          <p:cNvSpPr txBox="1"/>
          <p:nvPr/>
        </p:nvSpPr>
        <p:spPr>
          <a:xfrm>
            <a:off x="584200" y="5880442"/>
            <a:ext cx="85852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MX" sz="1200" i="1">
                <a:solidFill>
                  <a:srgbClr val="6B7280"/>
                </a:solidFill>
                <a:latin typeface="Cambria" panose="02040503050406030204" pitchFamily="18" charset="0"/>
              </a:rPr>
              <a:t>Comunicación: HTTP con JSON · autenticación por token en cada llamada</a:t>
            </a:r>
            <a:endParaRPr lang="es-EC" sz="1200" i="1">
              <a:solidFill>
                <a:srgbClr val="6B728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10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	CREACIÓN DEL SERVIDOR RESTFUL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ES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ASP.NET Core Web API · http://localhost:5013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ES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1.3.1	Creación del proyecto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Crear un proyecto ASP.NET Core Web API en Visual Studio 2026.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Nombrarlo WS_CON_UNI_DOTNET_RESTful (también es su espacio de nombres).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Configurar Kestrel en http://0.0.0.0:5013 (launchSettings.json).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Agregar las dependencias: Microsoft.AspNetCore.OpenApi 10.0.12.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488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1.3.2	Estructura del proyecto (MVC)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Controladores: LoginController y ConverterController.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Modelos: DTO de respuesta, datos de conversión por magnitud y enumeraciones.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Servicios: TokenService genera y valida el token de sesión.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Endpoints REST (LoginEndpoint, CatalogEndpoint y ConverterEndpoint): exponen las operaciones al exterior.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25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1.3.3	Operaciones expuestas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53CF46-56CE-92A6-2EB6-D387AE33F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256841"/>
              </p:ext>
            </p:extLst>
          </p:nvPr>
        </p:nvGraphicFramePr>
        <p:xfrm>
          <a:off x="584200" y="2680042"/>
          <a:ext cx="8585200" cy="101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788">
                  <a:extLst>
                    <a:ext uri="{9D8B030D-6E8A-4147-A177-3AD203B41FA5}">
                      <a16:colId xmlns:a16="http://schemas.microsoft.com/office/drawing/2014/main" val="2515735965"/>
                    </a:ext>
                  </a:extLst>
                </a:gridCol>
                <a:gridCol w="1951182">
                  <a:extLst>
                    <a:ext uri="{9D8B030D-6E8A-4147-A177-3AD203B41FA5}">
                      <a16:colId xmlns:a16="http://schemas.microsoft.com/office/drawing/2014/main" val="2916300461"/>
                    </a:ext>
                  </a:extLst>
                </a:gridCol>
                <a:gridCol w="1951182">
                  <a:extLst>
                    <a:ext uri="{9D8B030D-6E8A-4147-A177-3AD203B41FA5}">
                      <a16:colId xmlns:a16="http://schemas.microsoft.com/office/drawing/2014/main" val="223148422"/>
                    </a:ext>
                  </a:extLst>
                </a:gridCol>
                <a:gridCol w="3382049">
                  <a:extLst>
                    <a:ext uri="{9D8B030D-6E8A-4147-A177-3AD203B41FA5}">
                      <a16:colId xmlns:a16="http://schemas.microsoft.com/office/drawing/2014/main" val="329755793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Operación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Entrada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Salida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Descripción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60717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Login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usuario, clave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estado, mensaje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Valida las credenciales y entrega un token de sesión.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067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Catálogo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magnitud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lista de unidades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Devuelve las unidades disponibles de una magnitud.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723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Conversión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token, magnitud, valor, desde, hacia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resultado, estado, mensaje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2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Convierte un valor entre dos unidades de la misma magnitud.</a:t>
                      </a:r>
                      <a:endParaRPr lang="es-EC" sz="12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511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C29C891-F506-8311-E031-1FA9CDB6BD03}"/>
              </a:ext>
            </a:extLst>
          </p:cNvPr>
          <p:cNvSpPr txBox="1"/>
          <p:nvPr/>
        </p:nvSpPr>
        <p:spPr>
          <a:xfrm>
            <a:off x="584200" y="4417402"/>
            <a:ext cx="85852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Rutas en este proyecto:  login → POST /login  ·  catálogo → GET /catalog/{tipo}  ·  conversión → POST /converter</a:t>
            </a:r>
          </a:p>
        </p:txBody>
      </p:sp>
    </p:spTree>
    <p:extLst>
      <p:ext uri="{BB962C8B-B14F-4D97-AF65-F5344CB8AC3E}">
        <p14:creationId xmlns:p14="http://schemas.microsoft.com/office/powerpoint/2010/main" val="1214661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1.3.4	Magnitudes y unidades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A98E1E-424B-3481-5D10-7508DAC39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495625"/>
              </p:ext>
            </p:extLst>
          </p:nvPr>
        </p:nvGraphicFramePr>
        <p:xfrm>
          <a:off x="584200" y="2680042"/>
          <a:ext cx="8585200" cy="177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6300">
                  <a:extLst>
                    <a:ext uri="{9D8B030D-6E8A-4147-A177-3AD203B41FA5}">
                      <a16:colId xmlns:a16="http://schemas.microsoft.com/office/drawing/2014/main" val="2282152221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258459101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Magnitud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Unidades soportadas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090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Longitud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 · cm · ft · yd · mi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7367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Masa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g · kg · oz · lb · qq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5018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Volumen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de-DE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mL · L · m3 · ft3 · gal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1444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Tiempo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pl-PL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ms · s · min · h · d · w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8307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Temperatura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pt-BR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°C · °F · K · °N · °Ré</a:t>
                      </a:r>
                      <a:endParaRPr lang="es-EC" sz="13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3499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Área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3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cm2 · m2 · km2 · ha · ft2 · ac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424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004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1.3.5	Código clave del servidor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[ApiController] y [Route] publican el recurso POST /converter; ASP.NET Core convierte el JSON en ConvertRequestDTO.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Responde 200 con el resultado o 401 si el token del encabezado Authorization no es válido.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468579-5786-0DFA-EF45-C01BE2FEC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76684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500833343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[ApiController]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[Route("converter")]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class ConverterEndpoint : ControllerBase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[HttpPost]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ActionResult&lt;ConverterResponseDTO&gt; Convert(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[FromHeader(Name = "Authorization")] string token,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[FromBody] ConvertRequestDTO req)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if (!LoginController.ValidateUser(token))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return Unauthorized(new ConverterResponseDTO(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EstadosEnum.ERROR, "Token Inválido", 0));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Ok(new ConverterResponseDTO(EstadosEnum.OK,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"Conversión Exitosa", ConverterController.Convert(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  req.type ?? "", req.value, req.from ?? "", req.to ?? "")));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498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053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1.3.6	Ejecución del servidor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Ejecutar el servidor desde Visual Studio 2026 o con dotnet run.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Comprobar el endpoint en http://localhost:5013/login (POST con JSON).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Usuario de prueba: user / 1234.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2449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	CREACIÓN DEL PROYECTO – CLIENTE CONSOLA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.NET 10 + HttpClient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CONSOLE_CON_UNI_DOTNET_RESTful creado en Visual Studio 2026.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menú en la terminal.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9879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HttpClient envía la petición con el token en el encabezado Authorization y devuelve el JSON como texto.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Las llamadas son asíncronas (async/await) para no bloquear el menú mientras responde el servidor.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6B205A-4699-4C50-2FBA-260DBA3EB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254388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442682901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internal class RESTfulClient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string baseUrl = "http://localhost:5000/";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private HttpClient http = new HttpClient();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public async Task&lt;string&gt; GetAsync(string endpoint, string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using HttpRequestMessage request = new HttpRequestMessage(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HttpMethod.Get, baseUrl + endpoint);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request.Headers.Add("Accept", "application/json");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request.Headers.Add("Authorization",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using HttpResponseMessage response =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await http.SendAsync(request);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await response.Content.ReadAsStringAsync();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15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907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1.4.3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C6895-9F9B-AF13-7091-FBE97BBA6CA3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7000A303-6A94-CFE9-1425-A50805EDACE6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0EF05-5BFC-2AE7-9AFE-A4FADDB0FFD2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43962DC6-A79C-52B9-1306-39802F69A5F9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A02A9-C5E0-9F73-063C-1D09BCB918A8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9BF6A363-5757-7B97-A751-51A0AC1A5F8C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</p:spTree>
    <p:extLst>
      <p:ext uri="{BB962C8B-B14F-4D97-AF65-F5344CB8AC3E}">
        <p14:creationId xmlns:p14="http://schemas.microsoft.com/office/powerpoint/2010/main" val="2620780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	CREACIÓN DEL PROYECTO – CLIENTE ESCRITORIO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WinForms + HttpClient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ESC_CON_UNI_DOTNET_RESTful creado en Visual Studio 2026.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ventanas de login y principal.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6461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Arma las peticiones POST con cuerpo JSON hacia http://localhost:5013 y agrega el token cuando hay sesión.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HttpClient tiene un tiempo de espera de 15 s para que la ventana no quede esperando sin fin.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EB15A7-5793-3336-7E72-05C1B4BB9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57577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51935297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Task&lt;string&gt; PostAsync(EndpointsEnum endpoint,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string json, string?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var peticion = Peticion(HttpMethod.Post,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endpoint.ToString(),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peticion.Content = new StringContent(json,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Encoding.UTF8, "application/json");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EnviarAsync(peticion);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private HttpRequestMessage Peticion(HttpMethod metodo,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string recurso, string?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var peticion = new HttpRequestMessage(metodo, urlBase + recurso);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peticion.Headers.Accept.ParseAdd("application/json");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if (token != null)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peticion.Headers.TryAddWithoutValidation("Authorization",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peticion;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4246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697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1.5.3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40D37B-A419-ACA5-993C-C7CCBC4AB201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BAA0578F-2CA7-5766-1DCA-5C3A8FDE0742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754B3-24E3-2F23-4866-2196E68AE806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212CAC36-DA98-0236-B81E-D6AFDEE3824E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DED42-0D9F-0BF7-8368-492B87D4022E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9E6EE889-17B1-E86F-E848-585995A9ABAB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</p:spTree>
    <p:extLst>
      <p:ext uri="{BB962C8B-B14F-4D97-AF65-F5344CB8AC3E}">
        <p14:creationId xmlns:p14="http://schemas.microsoft.com/office/powerpoint/2010/main" val="814933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	CREACIÓN DEL PROYECTO – CLIENTE WEB</a:t>
            </a:r>
          </a:p>
          <a:p>
            <a:pPr marL="34290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ASP.NET Core MVC + HttpClient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WEB_CON_UNI_DOTNET_RESTful creado en Visual Studio 2026.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páginas de login, menú, catálogo y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3479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controlador MVC recibe el formulario y llama a la API REST a través de ConversorServicio y RESTfulClient.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Si el login falla, vuelve a mostrar la vista con el mensaje; si funciona, guarda la sesión y va al menú.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9FE6F8-8DBE-CD7C-E44F-40BFB8EDA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997784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62388314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[HttpPost("/login")]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async Task&lt;IActionResult&gt; Ingresar(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string? usuario, string? clave)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var vista = new LoginVista { Usuario = usuario ?? "" };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// ... validación de campos vacíos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var sesion = new Sesion();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try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await fabrica.CrearServicio(sesion)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.IniciarSesionAsync(usuario.Trim(), clave);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catch (ServicioException e)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vista.Error = e.Message;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return await VistaAsync(vista);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SesionUsuario.Guardar(HttpContext, sesion);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Redirect("~/menu");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0995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979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1.6.3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DDFE14-8DF9-5263-B278-70EE7B5C778B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6CE6F57F-08DF-38F3-DF9A-F0AC073D2E2A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1ABDA-FEDD-7366-EC3E-6AA0B31052DC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6E6FF01F-0DAA-C6ED-89B8-560777E2A711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F5F1EB-07CB-4776-FC14-80940F3D5383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20AED486-7A75-B45E-0724-000E81903882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</p:spTree>
    <p:extLst>
      <p:ext uri="{BB962C8B-B14F-4D97-AF65-F5344CB8AC3E}">
        <p14:creationId xmlns:p14="http://schemas.microsoft.com/office/powerpoint/2010/main" val="2191692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9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1.7	CREACIÓN DEL PROYECTO – CLIENTE MÓVIL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7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.NET MAUI (Android) · patrón MVC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8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1.7.1	Creación y estructura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Proyecto MOV_CON_UNI_DOTNET_RESTFUL creado en Visual Studio 2026.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Modelo: conexión con el servidor y sesión del usuario.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Vista: pantallas de login, catálogo y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Controlador: login, catálogo y conversión.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7642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25400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5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1.7.2	Código clave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endParaRPr lang="es-MX" sz="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La app MAUI usa HttpClient con la URL base de RestConfig y envía el token en Authorization.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4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Devuelve el código HTTP y el cuerpo para que el controlador muestre el mensaje del servidor si hay error.</a:t>
            </a:r>
            <a:endParaRPr sz="14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2C8ADC-FCB7-2320-E6E4-E032F71E0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31153"/>
              </p:ext>
            </p:extLst>
          </p:nvPr>
        </p:nvGraphicFramePr>
        <p:xfrm>
          <a:off x="3327400" y="2032000"/>
          <a:ext cx="5778500" cy="2540000"/>
        </p:xfrm>
        <a:graphic>
          <a:graphicData uri="http://schemas.openxmlformats.org/drawingml/2006/table">
            <a:tbl>
              <a:tblPr firstRow="1" bandRow="1">
                <a:tableStyleId>{BF136021-7255-42B7-A7E7-87A8D8FFE9CA}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3765693752"/>
                    </a:ext>
                  </a:extLst>
                </a:gridCol>
              </a:tblGrid>
              <a:tr h="25400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public Task&lt;RespuestaHttp&gt; PostJsonAsync(string ruta,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string json, string?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var peticion = new HttpRequestMessage(HttpMethod.Post, ruta)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Content = new StringContent(json, Encoding.UTF8,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  "application/json"),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};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EnviarAsync(peticion,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  <a:p>
                      <a:pPr algn="l">
                        <a:buFontTx/>
                        <a:buNone/>
                      </a:pPr>
                      <a:endParaRPr lang="es-EC" sz="1100" b="0">
                        <a:solidFill>
                          <a:srgbClr val="4F81BD"/>
                        </a:solidFill>
                        <a:latin typeface="Calibri" panose="020F0502020204030204" pitchFamily="34" charset="0"/>
                      </a:endParaRP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private async Task&lt;RespuestaHttp&gt; EnviarAsync(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HttpRequestMessage peticion, string? token)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{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peticion.Headers.Accept.ParseAdd("application/json");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if (token is not null)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peticion.Headers.TryAddWithoutValidation("Authorization", token);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using var respuesta = await _http.SendAsync(peticion);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string cuerpo = await respuesta.Content.ReadAsStringAsync();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return new RespuestaHttp((int)respuesta.StatusCode,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    respuesta.ReasonPhrase, cuerpo);</a:t>
                      </a:r>
                    </a:p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4F81BD"/>
                          </a:solidFill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127000" marT="101600" marB="1016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3957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455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1"/>
            <a:ext cx="8585200" cy="495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ES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1.7.3	Vistas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C93915-812D-65D8-0E45-62D84FEB4F80}"/>
              </a:ext>
            </a:extLst>
          </p:cNvPr>
          <p:cNvSpPr txBox="1"/>
          <p:nvPr/>
        </p:nvSpPr>
        <p:spPr>
          <a:xfrm>
            <a:off x="5842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Inicio de sesión</a:t>
            </a:r>
          </a:p>
        </p:txBody>
      </p:sp>
      <p:sp>
        <p:nvSpPr>
          <p:cNvPr id="3" name="Captura Inicio de sesión">
            <a:extLst>
              <a:ext uri="{FF2B5EF4-FFF2-40B4-BE49-F238E27FC236}">
                <a16:creationId xmlns:a16="http://schemas.microsoft.com/office/drawing/2014/main" id="{3FA54117-F9EC-DBE6-6C83-F359B4F08DA8}"/>
              </a:ext>
            </a:extLst>
          </p:cNvPr>
          <p:cNvSpPr/>
          <p:nvPr/>
        </p:nvSpPr>
        <p:spPr>
          <a:xfrm>
            <a:off x="5842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ACCC9-4F19-5DA4-28BF-DDCDAE5768B8}"/>
              </a:ext>
            </a:extLst>
          </p:cNvPr>
          <p:cNvSpPr txBox="1"/>
          <p:nvPr/>
        </p:nvSpPr>
        <p:spPr>
          <a:xfrm>
            <a:off x="35433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Conversión</a:t>
            </a:r>
          </a:p>
        </p:txBody>
      </p:sp>
      <p:sp>
        <p:nvSpPr>
          <p:cNvPr id="5" name="Captura Conversión">
            <a:extLst>
              <a:ext uri="{FF2B5EF4-FFF2-40B4-BE49-F238E27FC236}">
                <a16:creationId xmlns:a16="http://schemas.microsoft.com/office/drawing/2014/main" id="{E79A8FD9-28BA-2D0A-0B54-6389AB2C4BDD}"/>
              </a:ext>
            </a:extLst>
          </p:cNvPr>
          <p:cNvSpPr/>
          <p:nvPr/>
        </p:nvSpPr>
        <p:spPr>
          <a:xfrm>
            <a:off x="35433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44BC0-CCED-6A7F-A46D-F8C4D97827C8}"/>
              </a:ext>
            </a:extLst>
          </p:cNvPr>
          <p:cNvSpPr txBox="1"/>
          <p:nvPr/>
        </p:nvSpPr>
        <p:spPr>
          <a:xfrm>
            <a:off x="6502400" y="2629242"/>
            <a:ext cx="266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C" b="1">
                <a:solidFill>
                  <a:srgbClr val="3D3D3D"/>
                </a:solidFill>
                <a:latin typeface="Cambria" panose="02040503050406030204" pitchFamily="18" charset="0"/>
              </a:rPr>
              <a:t>Vista: Catálogo de unidades</a:t>
            </a:r>
          </a:p>
        </p:txBody>
      </p:sp>
      <p:sp>
        <p:nvSpPr>
          <p:cNvPr id="7" name="Captura Catálogo de unidades">
            <a:extLst>
              <a:ext uri="{FF2B5EF4-FFF2-40B4-BE49-F238E27FC236}">
                <a16:creationId xmlns:a16="http://schemas.microsoft.com/office/drawing/2014/main" id="{B241C30A-9635-D07C-E1CA-EB873FF3CE33}"/>
              </a:ext>
            </a:extLst>
          </p:cNvPr>
          <p:cNvSpPr/>
          <p:nvPr/>
        </p:nvSpPr>
        <p:spPr>
          <a:xfrm>
            <a:off x="6502400" y="3010242"/>
            <a:ext cx="2667000" cy="3339758"/>
          </a:xfrm>
          <a:prstGeom prst="rect">
            <a:avLst/>
          </a:prstGeom>
          <a:solidFill>
            <a:srgbClr val="F4F6FA"/>
          </a:solidFill>
          <a:ln w="12700">
            <a:solidFill>
              <a:srgbClr val="9AA5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sz="1200" i="1">
                <a:solidFill>
                  <a:srgbClr val="6B7280"/>
                </a:solidFill>
                <a:latin typeface="Cambria" panose="02040503050406030204" pitchFamily="18" charset="0"/>
              </a:rPr>
              <a:t>Insertar captura de pantalla</a:t>
            </a:r>
          </a:p>
        </p:txBody>
      </p:sp>
    </p:spTree>
    <p:extLst>
      <p:ext uri="{BB962C8B-B14F-4D97-AF65-F5344CB8AC3E}">
        <p14:creationId xmlns:p14="http://schemas.microsoft.com/office/powerpoint/2010/main" val="26536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115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1.8	PRUEBAS</a:t>
            </a:r>
          </a:p>
          <a:p>
            <a:pPr marL="342900" indent="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None/>
            </a:pPr>
            <a:r>
              <a:rPr lang="es-MX" sz="1600" i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Casos verificados contra el servidor</a:t>
            </a:r>
          </a:p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1.8.1	Casos de prueba</a:t>
            </a:r>
            <a:endParaRPr sz="1700" b="1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15667A-96A8-5791-3D22-9B5936950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884338"/>
              </p:ext>
            </p:extLst>
          </p:nvPr>
        </p:nvGraphicFramePr>
        <p:xfrm>
          <a:off x="584200" y="3285260"/>
          <a:ext cx="85852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660">
                  <a:extLst>
                    <a:ext uri="{9D8B030D-6E8A-4147-A177-3AD203B41FA5}">
                      <a16:colId xmlns:a16="http://schemas.microsoft.com/office/drawing/2014/main" val="190842836"/>
                    </a:ext>
                  </a:extLst>
                </a:gridCol>
                <a:gridCol w="2005302">
                  <a:extLst>
                    <a:ext uri="{9D8B030D-6E8A-4147-A177-3AD203B41FA5}">
                      <a16:colId xmlns:a16="http://schemas.microsoft.com/office/drawing/2014/main" val="869294557"/>
                    </a:ext>
                  </a:extLst>
                </a:gridCol>
                <a:gridCol w="2005302">
                  <a:extLst>
                    <a:ext uri="{9D8B030D-6E8A-4147-A177-3AD203B41FA5}">
                      <a16:colId xmlns:a16="http://schemas.microsoft.com/office/drawing/2014/main" val="1133717124"/>
                    </a:ext>
                  </a:extLst>
                </a:gridCol>
                <a:gridCol w="3007953">
                  <a:extLst>
                    <a:ext uri="{9D8B030D-6E8A-4147-A177-3AD203B41FA5}">
                      <a16:colId xmlns:a16="http://schemas.microsoft.com/office/drawing/2014/main" val="1155114853"/>
                    </a:ext>
                  </a:extLst>
                </a:gridCol>
                <a:gridCol w="1127983">
                  <a:extLst>
                    <a:ext uri="{9D8B030D-6E8A-4147-A177-3AD203B41FA5}">
                      <a16:colId xmlns:a16="http://schemas.microsoft.com/office/drawing/2014/main" val="141680584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Caso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Entrada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Resultado esperado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1">
                          <a:solidFill>
                            <a:srgbClr val="FFFFFF"/>
                          </a:solidFill>
                          <a:latin typeface="Gill Sans" panose="020B0604020202020204" charset="0"/>
                        </a:rPr>
                        <a:t>¿Cumple?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14343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Login correcto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user / 1234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Ingresa al menú principal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[Sí | No]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97329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Login incorrecto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user / clave errónea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Credenciales Incorrectas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[Sí | No]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25124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Longitud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1 mi → m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1609,344 m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[Sí | No]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56237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Temperatura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100 °C → °F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212 °F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[Sí | No]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8807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Masa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1 kg → lb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2,2046 lb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[Sí | No]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01713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Volumen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1 gal → L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3,7854 L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[Sí | No]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54198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Valor no numérico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abc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Mensaje de validación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[Sí | No]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07433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8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Servidor apagado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cualquier acción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MX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No se pudo conectar con el servidor</a:t>
                      </a:r>
                      <a:endParaRPr lang="es-EC" sz="1100" b="0">
                        <a:solidFill>
                          <a:srgbClr val="3D3D3D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s-EC" sz="1100" b="0">
                          <a:solidFill>
                            <a:srgbClr val="3D3D3D"/>
                          </a:solidFill>
                          <a:latin typeface="Cambria" panose="02040503050406030204" pitchFamily="18" charset="0"/>
                        </a:rPr>
                        <a:t>[Sí | No]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C9D2E0"/>
                      </a:solidFill>
                    </a:lnL>
                    <a:lnR w="9525" cmpd="sng">
                      <a:solidFill>
                        <a:srgbClr val="C9D2E0"/>
                      </a:solidFill>
                    </a:lnR>
                    <a:lnT w="9525" cmpd="sng">
                      <a:solidFill>
                        <a:srgbClr val="C9D2E0"/>
                      </a:solidFill>
                    </a:lnT>
                    <a:lnB w="9525" cmpd="sng">
                      <a:solidFill>
                        <a:srgbClr val="C9D2E0"/>
                      </a:solidFill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220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572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40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b="1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1.8.2	Evidencia de pruebas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155 pruebas automáticas: escritorio (83) y web (72).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Herramienta usada: xUnit.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 sz="17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[Observaciones encontradas durante las pruebas.]</a:t>
            </a:r>
            <a:endParaRPr sz="17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034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1844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El servidor RESTful fue consumido por cuatro clientes distintos sin cambiar su lógica, lo que muestra la interoperabilidad de una arquitectura orientada a servicios.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La autenticación por token separa la seguridad de la lógica de conversión.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Aplicar MVC en cada cliente permitió repetir la misma estructura en consola, escritorio, web y móvil.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ASP.NET Core Web API devolvió códigos HTTP claros (200, 400 y 401) según el resultado de cada operación.</a:t>
            </a:r>
            <a:endParaRPr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3934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1844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Usar una base de datos para los usuarios y el historial de conversiones.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Usar HTTPS para proteger el token en la red.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Validar en el servidor que las dos unidades pertenezcan a la magnitud elegida.</a:t>
            </a: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>
                <a:srgbClr val="4590B8"/>
              </a:buClr>
              <a:buChar char="∙"/>
            </a:pPr>
            <a:r>
              <a:rPr lang="es-MX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Activar la documentación OpenAPI ya incluida para probar los endpoints desde el navegador.</a:t>
            </a:r>
            <a:endParaRPr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FF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3451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REFERENCIAS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4200" y="2032000"/>
            <a:ext cx="8585200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4590B8"/>
              </a:buClr>
              <a:buChar char="∙"/>
            </a:pPr>
            <a:r>
              <a:rPr lang="en-US" sz="15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Fielding, R. T. (2000). Architectural styles and the design of network-based software architectures [Tesis doctoral]. University of California, Irvine.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4590B8"/>
              </a:buClr>
              <a:buChar char="∙"/>
            </a:pPr>
            <a:r>
              <a:rPr lang="en-US" sz="15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Fowler, M. (2002). Patterns of enterprise application architecture. Addison-Wesley.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4590B8"/>
              </a:buClr>
              <a:buChar char="∙"/>
            </a:pPr>
            <a:r>
              <a:rPr lang="en-US" sz="15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W3C. (2007). SOAP version 1.2 part 1: Messaging framework (2.ª ed.). https://www.w3.org/TR/soap12-part1/</a:t>
            </a:r>
          </a:p>
          <a:p>
            <a:pPr marL="34290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4590B8"/>
              </a:buClr>
              <a:buChar char="∙"/>
            </a:pPr>
            <a:r>
              <a:rPr lang="en-US" sz="1500">
                <a:solidFill>
                  <a:srgbClr val="3D3D3D"/>
                </a:solidFill>
                <a:latin typeface="Cambria" panose="02040503050406030204" pitchFamily="18" charset="0"/>
                <a:ea typeface="Cambria"/>
                <a:cs typeface="Cambria"/>
                <a:sym typeface="Cambria"/>
              </a:rPr>
              <a:t>Microsoft. (2026). Create web APIs with ASP.NET Core. https://learn.microsoft.com/aspnet/core/web-api/</a:t>
            </a:r>
            <a:endParaRPr sz="1500">
              <a:solidFill>
                <a:srgbClr val="3D3D3D"/>
              </a:solidFill>
              <a:latin typeface="Cambria" panose="02040503050406030204" pitchFamily="18" charset="0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DESARROLLO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OBJETIVO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MARCO TEÓRICO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SERVIDOR RESTFUL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CONSOLA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ESCRITORIO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WEB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CREACIÓN DEL PROYECTO – CLIENTE MÓVIL</a:t>
            </a:r>
          </a:p>
          <a:p>
            <a:pPr marL="763143" lvl="1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PRUEBAS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CONCLUSIONES</a:t>
            </a:r>
          </a:p>
          <a:p>
            <a:pPr marL="305943" indent="-305943">
              <a:spcBef>
                <a:spcPts val="840"/>
              </a:spcBef>
              <a:buClr>
                <a:srgbClr val="4590B8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FF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RECOMENDACIONES</a:t>
            </a:r>
          </a:p>
          <a:p>
            <a:pPr marL="305943" indent="-305943">
              <a:spcBef>
                <a:spcPts val="840"/>
              </a:spcBef>
              <a:buClr>
                <a:srgbClr val="FFFF00"/>
              </a:buClr>
              <a:buSzPts val="1400"/>
              <a:buFont typeface="+mj-lt"/>
              <a:buChar char="◼"/>
            </a:pPr>
            <a:r>
              <a:rPr lang="es-MX" sz="1200" b="1" i="0" u="none" strike="noStrike" cap="none">
                <a:solidFill>
                  <a:srgbClr val="FFFF00"/>
                </a:solidFill>
                <a:latin typeface="Gill Sans" panose="020B0604020202020204" charset="0"/>
                <a:ea typeface="Arial"/>
                <a:cs typeface="Arial"/>
                <a:sym typeface="Arial"/>
              </a:rPr>
              <a:t>REFERENCIAS</a:t>
            </a:r>
            <a:endParaRPr sz="1200" b="1" i="0" u="none" strike="noStrike" cap="none">
              <a:solidFill>
                <a:srgbClr val="FFFF00"/>
              </a:solidFill>
              <a:latin typeface="Gill Sans" panose="020B060402020202020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628354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3412</Words>
  <Application>Microsoft Office PowerPoint</Application>
  <PresentationFormat>Widescreen</PresentationFormat>
  <Paragraphs>729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Gill Sans</vt:lpstr>
      <vt:lpstr>Arial</vt:lpstr>
      <vt:lpstr>Calibri</vt:lpstr>
      <vt:lpstr>Noto Sans Symbols</vt:lpstr>
      <vt:lpstr>Cambria</vt:lpstr>
      <vt:lpstr>Dividendo</vt:lpstr>
      <vt:lpstr>MANUAL CONVERSIÓN UNIDADES RESTFUL .NET</vt:lpstr>
      <vt:lpstr>PowerPoint Presentation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</cp:lastModifiedBy>
  <cp:revision>1</cp:revision>
  <dcterms:modified xsi:type="dcterms:W3CDTF">2026-10-27T13:51:26Z</dcterms:modified>
</cp:coreProperties>
</file>