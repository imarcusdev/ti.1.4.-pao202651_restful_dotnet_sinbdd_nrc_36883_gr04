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1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89" r:id="rId10"/>
    <p:sldId id="390" r:id="rId11"/>
    <p:sldId id="391" r:id="rId12"/>
    <p:sldId id="392" r:id="rId13"/>
    <p:sldId id="393" r:id="rId14"/>
    <p:sldId id="394" r:id="rId15"/>
    <p:sldId id="395" r:id="rId16"/>
    <p:sldId id="396" r:id="rId17"/>
    <p:sldId id="397" r:id="rId18"/>
    <p:sldId id="398" r:id="rId19"/>
    <p:sldId id="399" r:id="rId20"/>
    <p:sldId id="400" r:id="rId21"/>
    <p:sldId id="401" r:id="rId22"/>
    <p:sldId id="402" r:id="rId23"/>
    <p:sldId id="403" r:id="rId24"/>
    <p:sldId id="404" r:id="rId25"/>
    <p:sldId id="405" r:id="rId26"/>
    <p:sldId id="406" r:id="rId27"/>
    <p:sldId id="407" r:id="rId28"/>
    <p:sldId id="408" r:id="rId29"/>
    <p:sldId id="409" r:id="rId30"/>
    <p:sldId id="410" r:id="rId31"/>
    <p:sldId id="411" r:id="rId32"/>
    <p:sldId id="412" r:id="rId33"/>
    <p:sldId id="413" r:id="rId34"/>
    <p:sldId id="414" r:id="rId35"/>
    <p:sldId id="342" r:id="rId36"/>
    <p:sldId id="343" r:id="rId37"/>
    <p:sldId id="344" r:id="rId38"/>
    <p:sldId id="382" r:id="rId39"/>
    <p:sldId id="383" r:id="rId40"/>
    <p:sldId id="384" r:id="rId41"/>
    <p:sldId id="385" r:id="rId42"/>
    <p:sldId id="386" r:id="rId43"/>
    <p:sldId id="387" r:id="rId44"/>
    <p:sldId id="388" r:id="rId45"/>
    <p:sldId id="345" r:id="rId46"/>
    <p:sldId id="346" r:id="rId47"/>
    <p:sldId id="347" r:id="rId48"/>
    <p:sldId id="374" r:id="rId49"/>
    <p:sldId id="375" r:id="rId50"/>
    <p:sldId id="376" r:id="rId51"/>
    <p:sldId id="377" r:id="rId52"/>
    <p:sldId id="378" r:id="rId53"/>
    <p:sldId id="379" r:id="rId54"/>
    <p:sldId id="380" r:id="rId55"/>
    <p:sldId id="381" r:id="rId56"/>
    <p:sldId id="348" r:id="rId57"/>
    <p:sldId id="349" r:id="rId58"/>
    <p:sldId id="350" r:id="rId59"/>
    <p:sldId id="367" r:id="rId60"/>
    <p:sldId id="368" r:id="rId61"/>
    <p:sldId id="369" r:id="rId62"/>
    <p:sldId id="370" r:id="rId63"/>
    <p:sldId id="371" r:id="rId64"/>
    <p:sldId id="372" r:id="rId65"/>
    <p:sldId id="373" r:id="rId66"/>
    <p:sldId id="351" r:id="rId67"/>
    <p:sldId id="352" r:id="rId68"/>
    <p:sldId id="353" r:id="rId69"/>
    <p:sldId id="359" r:id="rId70"/>
    <p:sldId id="360" r:id="rId71"/>
    <p:sldId id="361" r:id="rId72"/>
    <p:sldId id="362" r:id="rId73"/>
    <p:sldId id="363" r:id="rId74"/>
    <p:sldId id="364" r:id="rId75"/>
    <p:sldId id="365" r:id="rId76"/>
    <p:sldId id="366" r:id="rId77"/>
    <p:sldId id="354" r:id="rId78"/>
    <p:sldId id="357" r:id="rId79"/>
    <p:sldId id="358" r:id="rId80"/>
  </p:sldIdLst>
  <p:sldSz cx="12192000" cy="6858000"/>
  <p:notesSz cx="6858000" cy="9144000"/>
  <p:embeddedFontLst>
    <p:embeddedFont>
      <p:font typeface="Cambria" panose="02040503050406030204" pitchFamily="18" charset="0"/>
      <p:regular r:id="rId82"/>
      <p:bold r:id="rId83"/>
      <p:italic r:id="rId84"/>
      <p:boldItalic r:id="rId85"/>
    </p:embeddedFont>
    <p:embeddedFont>
      <p:font typeface="Gill Sans" panose="020B0604020202020204" charset="0"/>
      <p:regular r:id="rId86"/>
      <p:bold r:id="rId8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1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3.fntdata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2.fntdata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6.fntdata"/><Relationship Id="rId61" Type="http://schemas.openxmlformats.org/officeDocument/2006/relationships/slide" Target="slides/slide60.xml"/><Relationship Id="rId82" Type="http://schemas.openxmlformats.org/officeDocument/2006/relationships/font" Target="fonts/font1.fntdata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RESTFUL .NET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[dd/mm/aaaa]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9329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RESTFUL EN .NET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5962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RESTful en .NET,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RESTful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6340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RESTFUL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Web API · http://localhost:5013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ASP.NET Core Web API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WS_CON_UNI_DOTNET_RESTful (también es su espacio de nombres).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Kestrel en http://0.0.0.0:5013 (launchSettings.json).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Microsoft.AspNetCore.OpenApi 10.0.12.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09488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Endpoints REST (LoginEndpoint, CatalogEndpoint y ConverterEndpoint):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F6B082-A2C9-0A32-C23D-2D88908BB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68" y="4200207"/>
            <a:ext cx="8164064" cy="227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59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853CF46-56CE-92A6-2EB6-D387AE33F3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256841"/>
              </p:ext>
            </p:extLst>
          </p:nvPr>
        </p:nvGraphicFramePr>
        <p:xfrm>
          <a:off x="584200" y="2680042"/>
          <a:ext cx="8585201" cy="1584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2515735965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2916300461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223148422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329755793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760717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3067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723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05111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C29C891-F506-8311-E031-1FA9CDB6BD03}"/>
              </a:ext>
            </a:extLst>
          </p:cNvPr>
          <p:cNvSpPr txBox="1"/>
          <p:nvPr/>
        </p:nvSpPr>
        <p:spPr>
          <a:xfrm>
            <a:off x="584200" y="4417402"/>
            <a:ext cx="85852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POST /login  ·  catálogo → GET /catalog/{tipo}  ·  conversión → POST /converter</a:t>
            </a:r>
          </a:p>
        </p:txBody>
      </p:sp>
    </p:spTree>
    <p:extLst>
      <p:ext uri="{BB962C8B-B14F-4D97-AF65-F5344CB8AC3E}">
        <p14:creationId xmlns:p14="http://schemas.microsoft.com/office/powerpoint/2010/main" val="1214661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7A98E1E-424B-3481-5D10-7508DAC39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0495625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2282152221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258459101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090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127367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5018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814449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8307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3499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34248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1004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[ApiController] y [Route] publican el recurso POST /converter; ASP.NET Core convierte el JSON en ConvertRequestDTO.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Responde 200 con el resultado o 401 si el token del encabezado Authorization no es válido.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 dirty="0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766844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[Route("converter")]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ActionResult&lt;ConverterResponseDTO&gt;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[FromHeader(Name = "Authorization")]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[FromBody] ConvertRequestDTO req)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Unauthorized(new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 "Token Inválido", 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Ok(new ConverterResponseDTO(EstadosEnum.OK,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"Conversión Exitosa", ConverterController.Convert(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req.type ?? "", req.value, req.from ?? "", req.to ?? "")));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7053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Código fuente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Program.cs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Configuración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Program.cs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233087"/>
              </p:ext>
            </p:extLst>
          </p:nvPr>
        </p:nvGraphicFramePr>
        <p:xfrm>
          <a:off x="3327400" y="2032000"/>
          <a:ext cx="5651500" cy="33578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builder = WebApplication.CreateBuilder(args);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Add services to the container.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builder.Services.AddControllers();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Learn more about configuring OpenAPI at https://aka.ms/aspnet/openapi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builder.Services.AddOpenApi();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app = builder.Build();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Configure the HTTP request pipeline.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if (app.Environment.IsDevelopment())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app.MapOpenApi();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app.UseHttpsRedirection();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app.UseAuthorization();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app.MapControllers();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app.Run();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4609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Api/CatalogEndpoint.cs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984835"/>
              </p:ext>
            </p:extLst>
          </p:nvPr>
        </p:nvGraphicFramePr>
        <p:xfrm>
          <a:off x="3327400" y="2032000"/>
          <a:ext cx="5651500" cy="36322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WS_CON_UNI_DOTNET_RESTful.Api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[Route("catalog")]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CatalogEndpoint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string FormatType(string? text)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(string.IsNullOrEmpty(text))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text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char.ToUpper(text[0]) +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text.Substring(1).ToLower();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[HttpGet("{type}")]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ActionResult&lt;CatalogResponseDTO&gt; GetCatalog(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[FromRoute]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[FromHeader(Name = "Authorization")]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type = FormatType(type);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CatalogResponseDTO dto;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0705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40304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Validar el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(!LoginController.ValidateUser(token ?? ""))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"Token Inválido",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new HashSet&lt;string&gt;()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Unauthorized(dto);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var units = ConverterController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.GetConverter(type)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.GetUnits();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"Obtención de Catálogo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units.ToHashSet()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6597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76245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CatalogEndpoint.cs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"Tipo de Catálogo Inexistente",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new HashSet&lt;string&gt;()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BadRequest(dto);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ConverterEndpoint.cs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WS_CON_UNI_DOTNET_RESTful.Api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[Route("converter")]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ActionResult&lt;ConverterResponseDTO&gt;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[FromHeader(Name = "Authorization")]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[FromBody] ConvertRequestDTO req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type = req.type ?? "";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37654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57473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 = req.value;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from = req.from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to = req.to ?? "";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ConverterResponseDTO 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ConverterResponseDTO(EstadosEnum.ERROR, "Token Inválido", 0);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Unauthorized(dto);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ConverterController.Convert(type, value, from,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506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LoginEndpoint.cs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30531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ConverterEndpoint.cs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"No se pudo hacer la conversión",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Unauthorized(dto);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LoginEndpoint.cs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WS_CON_UNI_DOTNET_RESTful.Api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[Route("login")]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ActionResult&lt;LoginResponseDTO&gt; LoginUser([FromBody] LoginRequestDTO req)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username = req.username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password = req.password ?? "";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1070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LoginEndpoint.cs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89337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LoginResponseDTO 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 = LoginController.Login(username,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LoginResponseDTO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 =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mensaje = "Ingreso de Sesión Exitoso!",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token =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"Credenciales Incorrectas",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Unauthorized(dto);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4366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Controllers/ConverterController.cs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40297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IDataConverter GetConverter(string 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"Area":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AreaModel();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"Longitud":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LongitudModel();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"Masa":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MasaPesoModel();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"Temperatura":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TemperaturaModel();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"Tiempo":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TiempoModel();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"Volumen":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VolumenModel();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throw new Exception("Type Converter not found!");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double Convert(string type, 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IDataConverter converter = ConverterController.GetConverter(type);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45652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805106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converter.Convert(value, from,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Login(string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LoginRepository repository = new LoginImplRepository();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repository.ValidateCredentials(username,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ValidateUser(string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TokenService.ValidateToken(token);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0392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TokenService.cs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Services/TokenService.cs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58625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TokenService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HashSet&lt;string&gt; tokensActivos = new HashSet&lt;string&gt;();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GenerateToken()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token = Guid.NewGuid().ToString();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tokensActivos.Add(token);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ValidateToken(string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tokensActivos.Contains(token);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845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Models/DTO/CatalogResponseDTO.cs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26523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CatalogResponseDTO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HashSet&lt;string&gt; resultado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[];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CatalogResponseDTO(EstadosEnum estado, string mensaje, HashSet&lt;string&gt; resultado)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497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Models/DTO/ConverterResponseDTO.cs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36587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resultado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ConverterResponseDTO(EstadosEnum estado, String mensaje, double resultado)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23013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ConvertRequestDTO.cs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Models/DTO/ConvertRequestDTO.cs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26592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ConvertRequestDTO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type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value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from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to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ConvertRequestDTO()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ConvertRequestDTO(string type, 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this.type = type;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this.value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this.from = from;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this.to = 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16578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LoginRequestDTO.cs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Models/DTO/LoginRequestDTO.cs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888189"/>
              </p:ext>
            </p:extLst>
          </p:nvPr>
        </p:nvGraphicFramePr>
        <p:xfrm>
          <a:off x="3327400" y="2032000"/>
          <a:ext cx="5651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LoginRequestDTO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username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password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LoginRequestDTO()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LoginRequestDTO(string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this.password = password;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01423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Models/DTO/LoginResponseDTO.cs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507147"/>
              </p:ext>
            </p:extLst>
          </p:nvPr>
        </p:nvGraphicFramePr>
        <p:xfrm>
          <a:off x="3327400" y="2032000"/>
          <a:ext cx="5651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token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LoginResponseDTO(EstadosEnum estado, string mensaje, string token)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9836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EstadosEnum.cs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Enumeración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827479"/>
              </p:ext>
            </p:extLst>
          </p:nvPr>
        </p:nvGraphicFramePr>
        <p:xfrm>
          <a:off x="3327400" y="2032000"/>
          <a:ext cx="5651500" cy="390652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ResponseDTO.cs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EstadosEnum estado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mensaje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ResponseDTO(EstadosEnum estado, 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EstadosEnum.cs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WS_CON_UNI_DOTNET_RESTful.Models.Enums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enum EstadosEnum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ERROR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90581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IDataConverter.cs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Models/Interfaces/IDataConverter.cs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166969"/>
              </p:ext>
            </p:extLst>
          </p:nvPr>
        </p:nvGraphicFramePr>
        <p:xfrm>
          <a:off x="3327400" y="2032000"/>
          <a:ext cx="5651500" cy="37693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Dictionary&lt;string, double&gt;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double Convert(double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map =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valueFrom = map[from];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valueTo = map[to];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value * valueFrom / valueTo;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IEnumerable&lt;string&gt; GetUnits()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ToMap().Keys;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1699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7031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string ValidateCredentials(string username, string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LoginImplRepository.cs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WS_CON_UNI_DOTNET_RESTful.Models.Repositories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LoginImplRepository : 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ValidateCredentials(string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No DB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(!"monster".Equals(username) || !"monster9".Equals(password))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 new Exception("Invalid User");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TokenService.GenerateToken();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51010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AreaModel.cs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Models/Data/AreaModel.cs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062324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AreaModel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squareCentimeter = 0.0001;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squareKilometer = 1000000;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hectare = 10000;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squareFeet = 0.092903;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acre = 4046.86;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 Dictionary&lt;string, double&gt;();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data.Add("cm2", squareCentimeter);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data.Add("m2", squareMeter);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data.Add("km2", squareKilometer);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data.Add("ha", hectare);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data.Add("ft2", squareFeet);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data.Add("ac", acre);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07497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Models/Data/LongitudModel.cs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521494"/>
              </p:ext>
            </p:extLst>
          </p:nvPr>
        </p:nvGraphicFramePr>
        <p:xfrm>
          <a:off x="3327400" y="2032000"/>
          <a:ext cx="5651500" cy="41808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LongitudModel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kilometer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hectometer = 100;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decameter = 10;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decimeter = 0.1;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centimeter = 0.01;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millimeter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feet = 0.3048;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yard = 0.9144;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mile = 1609.344;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data.Add("km", 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data.Add("hm", hectometer);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data.Add("Dm", decameter);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data.Add("m", 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data.Add("dm", decimeter);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data.Add("cm", 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data.Add("mm", millimeter);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data.Add("ft", 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data.Add("yd", yard);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data.Add("mi", mile);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0748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MasaPesoModel.cs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18966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LongitudModel.cs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MasaPesoModel.cs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MasaPesoModel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gram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kilogram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ounce = 0.0283495;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pound = 0.453592;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quintal = 100;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data.Add("g", 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data.Add("kg", kilogram);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data.Add("oz", ounce);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data.Add("lb", pound);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data.Add("qq", quintal);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53153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Models/Data/TemperaturaModel.cs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645250"/>
              </p:ext>
            </p:extLst>
          </p:nvPr>
        </p:nvGraphicFramePr>
        <p:xfrm>
          <a:off x="3327400" y="2032000"/>
          <a:ext cx="5651500" cy="37693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TemperaturaModel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"°C",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"°F",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"K",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"°N",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"°Ré", 1.0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Convert(double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map =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celsius;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83514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62718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(from)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(value - 32) * 5.0 / 9.0;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- 273.15;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* 100.0 / 33.0;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* 5.0 / 4.0;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87783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2287662"/>
              </p:ext>
            </p:extLst>
          </p:nvPr>
        </p:nvGraphicFramePr>
        <p:xfrm>
          <a:off x="3327400" y="2032000"/>
          <a:ext cx="5651500" cy="2672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9.0 / 5.0 + 32;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+ 273.15;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33.0 / 100.0;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4.0 / 5.0;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747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TiempoModel.cs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Models/Data/TiempoModel.cs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944720"/>
              </p:ext>
            </p:extLst>
          </p:nvPr>
        </p:nvGraphicFramePr>
        <p:xfrm>
          <a:off x="3327400" y="2032000"/>
          <a:ext cx="5651500" cy="390652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TiempoModel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millisecond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second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minute =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hour = 60 *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day = 60 * 60 * 24;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week = 60 * 60 * 24 * 7;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"ms", millisecond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"s", second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"min", minute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"h", hour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"d", day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"w", week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67691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VolumenModel.cs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Models/Data/VolumenModel.cs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1678238"/>
              </p:ext>
            </p:extLst>
          </p:nvPr>
        </p:nvGraphicFramePr>
        <p:xfrm>
          <a:off x="3327400" y="2032000"/>
          <a:ext cx="5651500" cy="36322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VolumenModel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milliliter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liter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cubicMeter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cubicFeet = 28.3168;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galon = 3.78541;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"mL", milliliter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"L", liter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"m3", cubicMeter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"ft3", cubicFeet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"gal", galon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70258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1.2.7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Visual Studio 2026 o con dotnet run.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endpoint en http://localhost:5013/login (POST con 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monster / monster9.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024494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10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98791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HttpClient envía la petición con el token en el encabezado Authorization y devuelve el JSON como texto.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Las llamadas son asíncronas (async/await) para no bloquear el menú mientras responde el servidor.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254388"/>
              </p:ext>
            </p:extLst>
          </p:nvPr>
        </p:nvGraphicFramePr>
        <p:xfrm>
          <a:off x="3327400" y="2032000"/>
          <a:ext cx="5651500" cy="28854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internal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 "http://localhost:5000/";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 = new HttpClient();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GetAsync(string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HttpMethod.Get, baseUrl + endpoint);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HttpResponseMessage response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99071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Models/HTTP/RESTfulClient.cs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78449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CONSOLE_CON_UNI_DOTNET_RESTful.Models.HTTP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 "http://localhost:5000/";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this.http = new HttpClient();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GetAsync(EndpointsEnum endpoint)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HttpMethod.Get,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12016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13413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GetAsync(EndpointsEnum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HttpMethod.Get,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GetAsync(string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HttpMethod.Get,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8406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242397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PostAsync(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EndpointsEnum endpoint,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HttpMethod.Post,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request.Content = new StringContent(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Encoding.UTF8,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"application/json"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03516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102432"/>
              </p:ext>
            </p:extLst>
          </p:nvPr>
        </p:nvGraphicFramePr>
        <p:xfrm>
          <a:off x="3327400" y="2032000"/>
          <a:ext cx="5651500" cy="322072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PostAsync(EndpointsEnum endpoint, string 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HttpMethod.Post,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request.Content = new StringContent(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Encoding.UTF8,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"application/json"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41531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Controllers/LoginController.cs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646621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CONSOLE_CON_UNI_DOTNET_SOAP.Controllers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LoginController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Task&lt;LoginResponseDTO&gt; LoginAsync(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RESTfulClient client = new RESTfulClient();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body = new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username = username,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password =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json = await client.PostAsync(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EndpointsEnum.login,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JsonSerializer.Serialize(body)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LoginResponseDTO dto = LoginResponseDTO.FromJSON(json);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ConfigHTTP.token = dto.GetToken();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21495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83184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"Error al iniciar sesión: " + e.Message,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null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LoginView.cs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CONSOLE_CON_UNI_DOTNET_SOAP.Views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LoginView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UserHasLogin()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ctrl = new LoginController();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Username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MessagesUtils.PrintMessage("Username: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username = Console.ReadLine() ?? string.Empty;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08248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64443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MessagesUtils.PrintMessage("Password: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password = Console.ReadLine() ?? string.Empty;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LoginResponseDTO? res = ctrl.LoginAsync(username, password).Result;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(res is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MessagesUtils.PrintMessage("No se recibió respuesta del servicio.");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MessagesUtils.PrintMessage(res.mensaje ?? string.Empty);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Thread.Sleep(TimeSpan.FromSeconds(3));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res.estado == EstadosEnum.OK;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32147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CC6895-9F9B-AF13-7091-FBE97BBA6CA3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7000A303-6A94-CFE9-1425-A50805EDACE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30EF05-5BFC-2AE7-9AFE-A4FADDB0FFD2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43962DC6-A79C-52B9-1306-39802F69A5F9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A02A9-C5E0-9F73-063C-1D09BCB918A8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9BF6A363-5757-7B97-A751-51A0AC1A5F8C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9" name="Captura Inicio de sesión">
            <a:extLst>
              <a:ext uri="{FF2B5EF4-FFF2-40B4-BE49-F238E27FC236}">
                <a16:creationId xmlns:a16="http://schemas.microsoft.com/office/drawing/2014/main" id="{4D3E9AAA-F4E9-924A-0D59-ED32572D90BF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11" name="Captura Conversión">
            <a:extLst>
              <a:ext uri="{FF2B5EF4-FFF2-40B4-BE49-F238E27FC236}">
                <a16:creationId xmlns:a16="http://schemas.microsoft.com/office/drawing/2014/main" id="{940ED688-E834-EB40-2CC7-D56F1ACE085B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13" name="Captura Catálogo de unidades">
            <a:extLst>
              <a:ext uri="{FF2B5EF4-FFF2-40B4-BE49-F238E27FC236}">
                <a16:creationId xmlns:a16="http://schemas.microsoft.com/office/drawing/2014/main" id="{BA505BF0-A179-F383-AC83-C9BE21AD9C02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0050ABF-276D-1135-D3D4-6530F8E46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74" y="3079484"/>
            <a:ext cx="1926055" cy="32012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3A73C55-20D9-68C9-65E3-65211E887B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9102" y="3079484"/>
            <a:ext cx="2305050" cy="322897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AE4AE0-07D8-3069-A92B-1ED9A3BCD2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0" y="3031048"/>
            <a:ext cx="2283026" cy="3277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7800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WinForms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564615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Arma las peticiones POST con cuerpo JSON hacia http://localhost:5013 y agrega el token cuando hay sesión.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HttpClient tiene un tiempo de espera de 15 s para que la ventana no quede esperando sin fin.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57577"/>
              </p:ext>
            </p:extLst>
          </p:nvPr>
        </p:nvGraphicFramePr>
        <p:xfrm>
          <a:off x="3327400" y="2032000"/>
          <a:ext cx="5651500" cy="33883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Task&lt;string&gt; PostAsync(EndpointsEnum endpoint,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peticion = Peticion(HttpMethod.Post,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endpoint.ToString(),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peticion.Content = new StringContent(json,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Encoding.UTF8,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EnviarAsync(peticion);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HttpRequestMessage Peticion(HttpMethod metodo,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peticion = new HttpRequestMessage(metodo, urlBase + recurso);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26975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ec/edu/monster/modelo/http/RESTfulClient.cs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8087341"/>
              </p:ext>
            </p:extLst>
          </p:nvPr>
        </p:nvGraphicFramePr>
        <p:xfrm>
          <a:off x="3327400" y="2032000"/>
          <a:ext cx="5651500" cy="37693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ec.edu.monster.modelo.http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Transporte HTTP mínimo hacia el servidor RESTful. El token de la sesión viaja en la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cabecera Authorization y se omite cuando es null (login). El cuerpo se devuelve como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texto sea cual sea el código de estado, porque el servidor informa sus errores dentro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de un cuerpo JSON.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UrlBase = "http://localhost:5013/";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El servidor lo comparten varios clientes y puede trabarse: mejor fallar que esperar sin fin.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TiempoPeticion = TimeSpan.FromSeconds(15);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string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RESTfulClient() : this(UrlBase)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RESTfulClient(string urlBase, HttpMessageHandler? manejador 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this.urlBase = urlBase.EndsWith('/') ? urlBase : urlBase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http = manejador == null ? new HttpClient() : new HttpClient(manejador);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http.Timeout = TiempoPeticion;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73052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4035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Task&lt;string&gt; GetAsync(string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EnviarAsync(Peticion(HttpMethod.Get, recurso, token));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Task&lt;string&gt; PostAsync(EndpointsEnum endpoint,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peticion = Peticion(HttpMethod.Post, endpoint.ToString(),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peticion.Content = new StringContent(json, Encoding.UTF8,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EnviarAsync(peticion);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HttpRequestMessage Peticion(HttpMethod metodo, 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peticion = new HttpRequestMessage(metodo, urlBase + recurso);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88219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LoginControlador.cs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83206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RESTfulClient.cs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Task&lt;string&gt; EnviarAsync(HttpRequestMessage 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(peticion)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var respuesta = await 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LoginControlador.cs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Maneja la pantalla de login: valida los datos, pide al modelo iniciar sesión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y le dice a la vista qué mostrar después.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CredencialesVacias = "Ingrese usuario y contraseña";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ILoginVista vista;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ConversorServicio servicio;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27676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LoginControlador.cs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74095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LoginControlador(ILoginVista vista, ConversorServicio servicio)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this.vista = vista;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this.servicio = servicio;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vista.AlIngresar(IngresarAsync);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 IngresarAsync()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usuario = vista.Usuario;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clave = vista.Clave;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(string.IsNullOrWhiteSpace(usuario) || string.IsNullOrWhiteSpace(clave))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vista.MostrarError(CredencialesVacias);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servicio.IniciarSesionAsync(usuario.Trim(),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vista.AbrirMenu();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vista.MostrarError(e.Message);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40035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ec/edu/monster/vista/LoginFrame.cs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168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Ventana de login. La navegación a la ventana principal se delega en 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callback alAbrirMenu que entrega App.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LoginFrame : Form, ILoginVista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Action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TextBox campoUsuario = Estilos.Entrada();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TextBox campoClave = Estilos.Entrada(clave: 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Button botonIngresar = Estilos.BotonPrimario("Ingresar");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Func&lt;Task&gt; accionIngresar = () =&gt; Task.CompletedTask;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IndicadorEstado Estado { get; }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new("Servicio disponible", "Servicio no disponible");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LoginFrame(Action alAbrirMenu)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this.alAbrirMenu = alAbrirMenu;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8347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88889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SuspendLayout();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AutoScaleDimensions = new SizeF(96F, 96F);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AutoScaleMode = AutoScaleMode.Dpi;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Text = Estilos.TituloVentana;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ClientSize = new Size(640, 460);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MinimumSize = new Size(480, 420);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StartPosition = FormStartPosition.CenterScreen;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BackColor = Estilos.Fondo;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Font = Estilos.Fuente;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Controls.Add(ConstruirContenido());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Controls.Add(Estado);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MainMenuStrip = Estilos.BarraMenu(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Estilos.Menu("Archivo", Estilos.Opcion("Salir", Close)),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Estilos.MenuAyuda(this));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Controls.Add(MainMenuStrip);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AcceptButton = botonIngresar;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botonIngresar.Click += (_, _) =&gt; Ingresar();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Shown += (_, _)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campoUsuario.Focus();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Estado.Iniciar();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ResumeLayout(false);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PerformLayout();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89019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6600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Control ConstruirContenido()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formulario = new TableLayoutPanel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ColumnCount = 1,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Dock = DockStyle.Fill,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Padding = new Padding(50, 30, 50, 0),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BackColor = Estilos.Fondo,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formulario.ColumnStyles.Add(new ColumnStyle(SizeType.Percent, 100));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filaBoton = new FlowLayoutPanel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FlowDirection = FlowDirection.RightToLeft,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Dock = DockStyle.Fill,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AutoSize = true,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Margin = new Padding(0),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filaBoton.Controls.Add(botonIngresar);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formulario.Controls.Add(Estilos.Titulo("Iniciar sesión"));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formulario.Controls.Add(Estilos.Etiqueta("Usuario"));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formulario.Controls.Add(campoUsuario);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formulario.Controls.Add(Estilos.Etiqueta("Contraseña"));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formulario.Controls.Add(campoClave);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formulario.Controls.Add(filaBoton);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formulario;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624738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58678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Ingresar()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Estilos.Ejecutar(accionIngresar, MostrarError, botonIngresar, campoUsuario, campoClave);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Usuario =&gt; campoUsuario.Text;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Clave =&gt; campoClave.Text;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MostrarError(string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MessageBox.Show(this, mensaje, Estilos.TituloVentana, MessageBoxButtons.OK, MessageBoxIcon.Error);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AbrirMenu()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La contraseña no se queda en memoria de una ventana que ya no se usa.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campoClave.Clear();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alAbrirMenu();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AlIngresar(Func&lt;Task&gt; accion)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accionIngresar = accion;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2076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40D37B-A419-ACA5-993C-C7CCBC4AB201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BAA0578F-2CA7-5766-1DCA-5C3A8FDE0742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4754B3-24E3-2F23-4866-2196E68AE806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212CAC36-DA98-0236-B81E-D6AFDEE3824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2DED42-0D9F-0BF7-8368-492B87D4022E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9E6EE889-17B1-E86F-E848-585995A9ABAB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8FD8BA-548C-8843-116E-442C9CE7C7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0" y="3584220"/>
            <a:ext cx="2570640" cy="21126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64E99E-AE94-0B7F-DFBC-B93B7A01A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1" y="3693802"/>
            <a:ext cx="2667000" cy="18046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ABCA599-88DF-B0FF-6DC3-CF7F2942564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7112" b="60054"/>
          <a:stretch>
            <a:fillRect/>
          </a:stretch>
        </p:blipFill>
        <p:spPr>
          <a:xfrm>
            <a:off x="581191" y="3693801"/>
            <a:ext cx="2632964" cy="191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9338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MVC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34797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controlador MVC recibe el formulario y llama a la API REST a través de ConversorServicio y RESTfulClient.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el login falla, vuelve a mostrar la vista con el mensaje; si funciona, guarda la sesión y va al menú.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99778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async Task&lt;IActionResult&gt; Ingresar(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... validación de campos vacíos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19793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ec/edu/monster/modelo/http/RESTfulClient.cs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40437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ec.edu.monster.modelo.http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Transporte HTTP mínimo hacia el servidor RESTful. El token de la sesión viaja en la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cabecera Authorization y se omite cuando es null (login). El cuerpo se devuelve como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texto sea cual sea el código de estado, porque el servidor informa sus errores dentro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de un cuerpo JSON.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UrlBase = "http://localhost:5013/";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El servidor lo comparten varios clientes y puede trabarse: mejor fallar que esperar sin fin.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TiempoPeticion = TimeSpan.FromSeconds(15);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string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RESTfulClient() : this(UrlBase)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RESTfulClient(string urlBase, HttpMessageHandler? manejador 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this.urlBase = urlBase.EndsWith('/') ? urlBase : urlBase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http = manejador == null ? new HttpClient() : new HttpClient(manejador);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http.Timeout = TiempoPeticion;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8836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85899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Task&lt;string&gt; GetAsync(string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EnviarAsync(Peticion(HttpMethod.Get, recurso, token));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Task&lt;string&gt; PostAsync(EndpointsEnum endpoint,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peticion = Peticion(HttpMethod.Post, endpoint.ToString(),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peticion.Content = new StringContent(json, Encoding.UTF8,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EnviarAsync(peticion);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HttpRequestMessage Peticion(HttpMethod metodo, 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peticion = new HttpRequestMessage(metodo, urlBase + recurso);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7623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02186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RESTfulClient.cs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Task&lt;string&gt; EnviarAsync(HttpRequestMessage 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(peticion)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var respuesta = await 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Página de login: valida los datos, pide al modelo iniciar sesión y, si todo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sale bien, guarda la sesión del usuario.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LoginController(IFabricaServicios fabrica) : 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CredencialesVacias = "Ingrese usuario y contraseña";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[HttpGet("/")]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IActionResult Inicio()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Redirect("~/login");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176500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61621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Task&lt;IActionResult&gt; Mostrar()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(SesionUsuario.Activa(HttpContext))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VistaAsync(new LoginVista());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Task&lt;IActionResult&gt; Ingresar(string?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La contraseña nunca se devuelve a la página.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(string.IsNullOrWhiteSpace(usuario) || string.IsNullOrWhiteSpace(clave))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CredencialesVacias;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77697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20451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SesionUsuario.Cerrar(HttpContext);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Task&lt;IActionResult&gt; VistaAsync(LoginVista vista)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ViewData["ServicioDisponible"] = await fabrica.DisponibleAsync();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View("login", 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19124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login.cshtml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ec/edu/monster/vista/login.cshtml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240398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@model LoginVista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ViewData["Titulo"] = "Iniciar sesión";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&lt;main class="contenido-centrado"&gt;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&lt;section class="tarjeta tarjeta-login"&gt;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&lt;h1&gt;Iniciar sesión&lt;/h1&gt;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method="post" action="~/login" asp-antiforgery="true" novalidate&gt;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for="usuario"&gt;Usuario&lt;/label&gt;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type="text" id="usuario" name="usuario" value="@Model.Usuario"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autocomplete="username" autofocus&gt;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for="clave"&gt;Contraseña&lt;/label&gt;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type="password" id="clave" name="clave" autocomplete="current-password"&gt;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class="boton"&gt;Ingresar&lt;/button&gt;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&lt;/section&gt;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&lt;/main&gt;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@if (!string.IsNullOrEmpty(Model.Error))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&lt;dialog id="dialogo-error" class="dialogo" open&gt;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&lt;h2&gt;Error de autenticación&lt;/h2&gt;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&lt;p&gt;@Model.Error&lt;/p&gt;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method="dialog"&gt;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class="boton"&gt;Aceptar&lt;/button&gt;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&lt;/dialog&gt;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Se reabre como modal para oscurecer la página de fondo, como en el mockup.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(function 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var dialogo = document.getElementById('dialogo-error');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619309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login.cshtml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310074"/>
              </p:ext>
            </p:extLst>
          </p:nvPr>
        </p:nvGraphicFramePr>
        <p:xfrm>
          <a:off x="3327400" y="2032000"/>
          <a:ext cx="5651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(dialogo &amp;&amp; dialogo.showModal)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dialogo.showModal();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29849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DDFE14-8DF9-5263-B278-70EE7B5C778B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6CE6F57F-08DF-38F3-DF9A-F0AC073D2E2A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91ABDA-FEDD-7366-EC3E-6AA0B31052DC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6E6FF01F-0DAA-C6ED-89B8-560777E2A711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F5F1EB-07CB-4776-FC14-80940F3D5383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20AED486-7A75-B45E-0724-000E81903882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422AAEF-8713-0CC4-D968-4346F42D8C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42" t="-1" r="26887" b="25898"/>
          <a:stretch>
            <a:fillRect/>
          </a:stretch>
        </p:blipFill>
        <p:spPr>
          <a:xfrm>
            <a:off x="772948" y="3429000"/>
            <a:ext cx="2317094" cy="244489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E15F103-5CC1-9DB6-A22B-8D8125AFC6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42" t="-1" r="26887" b="25898"/>
          <a:stretch>
            <a:fillRect/>
          </a:stretch>
        </p:blipFill>
        <p:spPr>
          <a:xfrm>
            <a:off x="772948" y="3429000"/>
            <a:ext cx="2317094" cy="244489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1A13707-BEC3-06EB-17A1-81185B32C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154" y="3809999"/>
            <a:ext cx="2639146" cy="178421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7759A72-8C4D-A781-28EC-14A12A8ED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00" y="3744815"/>
            <a:ext cx="2639146" cy="170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69286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MAUI (Android)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764274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app MAUI usa HttpClient con la URL base de RestConfig y envía el token en Authorization.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Devuelve el código HTTP y el cuerpo para que el controlador muestre el mensaje del servidor si hay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23115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Task&lt;RespuestaHttp&gt; PostJsonAsync(string ruta,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peticion = new HttpRequestMessage(HttpMethod.Post, ruta)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Content = new StringContent(json, Encoding.UTF8,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"application/json"),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EnviarAsync(peticion,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async Task&lt;RespuestaHttp&gt; EnviarAsync(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HttpRequestMessage peticion,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is not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using var respuesta = await _http.SendAsync(peticion);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cuerpo =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RespuestaHttp((int)respuesta.StatusCode,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respuesta.ReasonPhrase, cuerpo);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245510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ClienteRest.cs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Services/ClienteRest.cs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28849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MOV_CON_UNI_DOTNET_RESTFUL.Services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record RespuestaHttp(int Codigo, string? Razon, string Cuerpo)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bool EsExitosa =&gt; Codigo is &gt;= 200 and &lt;= 299;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ClienteRest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readonly HttpClient _http;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BaseUrl { get;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ClienteRest(string baseUrl, HttpMessageHandler? manejador 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BaseUrl = baseUrl.EndsWith('/') ? baseUrl : baseUrl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_http = manejador is null ? new HttpClient() : new HttpClient(manejador);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_http.BaseAddress = new Uri(BaseUrl);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_http.Timeout = RestConfig.Timeout;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Task&lt;RespuestaHttp&gt; GetAsync(string ruta,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=&gt; EnviarAsync(new HttpRequestMessage(HttpMethod.Get, ruta), token);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76897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ClienteRest.cs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84248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Task&lt;RespuestaHttp&gt; PostJsonAsync(string ruta,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var peticion = new HttpRequestMessage(HttpMethod.Post, ruta)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Content = new StringContent(json, Encoding.UTF8, "application/json"),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EnviarAsync(peticion,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async Task&lt;RespuestaHttp&gt; EnviarAsync(HttpRequestMessage peticion,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using (peticion)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(token is not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using HttpResponseMessage respuesta = await _http.SendAsync(peticion);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cuerpo =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RespuestaHttp((int)respuesta.StatusCode, respuesta.ReasonPhrase, cuerpo);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89186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Models/Repositories/LoginRepository.cs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36907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MOV_CON_UNI_DOTNET_RESTFUL.Models.Repositories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LoginRepository(ClienteRest cliente) : ILoginRepository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readonly ClienteRest _cliente = cliente;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async Task&lt;LoginResult&gt; LoginAsync(string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(RestErrores.SinRed())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RestErrores.SinConexion,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json = JsonSerializer.Serialize(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new LoginRequestDTO(username, password), JsonContexto.Default.LoginRequestDTO);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RespuestaHttp respuesta = await _cliente.PostJsonAsync("login", json, token: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LoginResponseDTO? dto = RestErrores.LeerDto(respuesta, JsonContexto.Default.LoginResponseDTO);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(dto ==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RestErrores.MensajeSinDto(respuesta),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(dto.Estado != EstadosEnum.OK)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RestErrores.MensajeServidor(dto.Mensaje, "Usuario o contraseña incorrectos"),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(string.IsNullOrWhiteSpace(dto.Token))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RestErrores.RespuestaIncompleta, null);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38905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18627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Success: true,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Message: dto.Mensaje ?? "",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Token: dto.Token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catch (Exception ex)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RestErrores.Mensaje(ex),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MOV_CON_UNI_DOTNET_RESTFUL.Controllers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LoginController(ILoginRepository loginRepository, SessionService session) : ControladorConSesion(session)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const int MaxUsuario = 50;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const int MaxPassword = 64;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readonly ILoginRepository _loginRepository = loginRepository;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async Task&lt;LoginResult&gt; LoginAsync(string? username, string?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usuario = username?.Trim()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clave = password?.Trim() ?? "";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235643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97797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(usuario.Length == 0)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"Ingrese el usuario",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(clave.Length == 0)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"Ingrese la contraseña",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(usuario.Length &gt; MaxUsuario)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$"El usuario no puede superar {MaxUsuario} caracteres",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(clave.Length &gt; MaxPassword)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$"La contraseña no puede superar {MaxPassword} caracteres",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LoginResult resultado = await _loginRepository.LoginAsync(usuario, clave);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(resultado.Success &amp;&amp; resultado.Token is not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Session.Iniciar(usuario, resultado.Token);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LoginPage.xaml.cs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MOV_CON_UNI_DOTNET_RESTFUL.Views;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partial class LoginPage : ContentPage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LoginController _controller;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351237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49297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LoginPage(LoginController controller)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InitializeComponent();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_controller = controller;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OnUsuarioCompleted(object? sender, EventArgs e) =&gt; PasswordEntry.Focus();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void OnIngresarClicked(object? sender, EventArgs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(!IngresarButton.IsEnabled)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MostrarCargando(true);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ErrorLabel.IsVisible = false;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var resultado = await _controller.LoginAsync(UsernameEntry.Text, PasswordEntry.Text);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193973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63014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(resultado.Success)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PasswordEntry.Text = string.Empty;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await Shell.Current.GoToAsync("//main/conversion");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else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MostrarError(resultado.Message);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MostrarError("Ocurrió un error inesperado. Intente de nuevo.");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finally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MostrarCargando(bool cargando)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IngresarButton.IsEnabled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UsernameEntry.IsEnabled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PasswordEntry.IsEnabled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CargandoIndicator.IsRunning = 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CargandoIndicator.IsVisible = 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12306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636587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MostrarError(string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ErrorLabel.Text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ErrorLabel.IsVisible =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09576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C93915-812D-65D8-0E45-62D84FEB4F80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ACCC9-4F19-5DA4-28BF-DDCDAE5768B8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644BC0-CCED-6A7F-A46D-F8C4D97827C8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55F960-316D-95BA-FE67-CC477AF2CD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579"/>
          <a:stretch>
            <a:fillRect/>
          </a:stretch>
        </p:blipFill>
        <p:spPr>
          <a:xfrm>
            <a:off x="702628" y="3010242"/>
            <a:ext cx="1944447" cy="33864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1A57958-3F83-170C-0DD5-530B62E63B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1432" y="2937019"/>
            <a:ext cx="1788140" cy="38724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BF13F9-C9F8-651D-A7DC-6C3541B7D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9727" y="2937019"/>
            <a:ext cx="1588814" cy="34407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E9549DB-6063-36C2-5572-08ABE675A0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8541" y="2937019"/>
            <a:ext cx="1554362" cy="336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60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RESTful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Web API devolvió códigos HTTP claros (200, 400 y 401) según el resultado de cada operación.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39347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Activar la documentación OpenAPI ya incluida para probar los endpoints desde el navegador.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4345161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12537</Words>
  <Application>Microsoft Office PowerPoint</Application>
  <PresentationFormat>Widescreen</PresentationFormat>
  <Paragraphs>2518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5" baseType="lpstr">
      <vt:lpstr>Arial</vt:lpstr>
      <vt:lpstr>Cambria</vt:lpstr>
      <vt:lpstr>Calibri</vt:lpstr>
      <vt:lpstr>Noto Sans Symbols</vt:lpstr>
      <vt:lpstr>Gill Sans</vt:lpstr>
      <vt:lpstr>Dividendo</vt:lpstr>
      <vt:lpstr>MANUAL CONVERSIÓN UNIDADES RESTFUL .NET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8</cp:revision>
  <dcterms:modified xsi:type="dcterms:W3CDTF">2026-10-27T17:40:22Z</dcterms:modified>
</cp:coreProperties>
</file>