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1"/>
  </p:notesMasterIdLst>
  <p:sldIdLst>
    <p:sldId id="330" r:id="rId2"/>
    <p:sldId id="331" r:id="rId3"/>
    <p:sldId id="332" r:id="rId4"/>
    <p:sldId id="337" r:id="rId5"/>
    <p:sldId id="338" r:id="rId6"/>
    <p:sldId id="339" r:id="rId7"/>
    <p:sldId id="340" r:id="rId8"/>
    <p:sldId id="341" r:id="rId9"/>
    <p:sldId id="389" r:id="rId10"/>
    <p:sldId id="390" r:id="rId11"/>
    <p:sldId id="391" r:id="rId12"/>
    <p:sldId id="392" r:id="rId13"/>
    <p:sldId id="393" r:id="rId14"/>
    <p:sldId id="394" r:id="rId15"/>
    <p:sldId id="395" r:id="rId16"/>
    <p:sldId id="396" r:id="rId17"/>
    <p:sldId id="397" r:id="rId18"/>
    <p:sldId id="398" r:id="rId19"/>
    <p:sldId id="399" r:id="rId20"/>
    <p:sldId id="400" r:id="rId21"/>
    <p:sldId id="401" r:id="rId22"/>
    <p:sldId id="402" r:id="rId23"/>
    <p:sldId id="403" r:id="rId24"/>
    <p:sldId id="404" r:id="rId25"/>
    <p:sldId id="405" r:id="rId26"/>
    <p:sldId id="406" r:id="rId27"/>
    <p:sldId id="407" r:id="rId28"/>
    <p:sldId id="408" r:id="rId29"/>
    <p:sldId id="409" r:id="rId30"/>
    <p:sldId id="410" r:id="rId31"/>
    <p:sldId id="411" r:id="rId32"/>
    <p:sldId id="412" r:id="rId33"/>
    <p:sldId id="413" r:id="rId34"/>
    <p:sldId id="414" r:id="rId35"/>
    <p:sldId id="342" r:id="rId36"/>
    <p:sldId id="343" r:id="rId37"/>
    <p:sldId id="344" r:id="rId38"/>
    <p:sldId id="382" r:id="rId39"/>
    <p:sldId id="383" r:id="rId40"/>
    <p:sldId id="384" r:id="rId41"/>
    <p:sldId id="385" r:id="rId42"/>
    <p:sldId id="386" r:id="rId43"/>
    <p:sldId id="387" r:id="rId44"/>
    <p:sldId id="388" r:id="rId45"/>
    <p:sldId id="345" r:id="rId46"/>
    <p:sldId id="346" r:id="rId47"/>
    <p:sldId id="347" r:id="rId48"/>
    <p:sldId id="374" r:id="rId49"/>
    <p:sldId id="375" r:id="rId50"/>
    <p:sldId id="376" r:id="rId51"/>
    <p:sldId id="377" r:id="rId52"/>
    <p:sldId id="378" r:id="rId53"/>
    <p:sldId id="379" r:id="rId54"/>
    <p:sldId id="380" r:id="rId55"/>
    <p:sldId id="381" r:id="rId56"/>
    <p:sldId id="348" r:id="rId57"/>
    <p:sldId id="349" r:id="rId58"/>
    <p:sldId id="350" r:id="rId59"/>
    <p:sldId id="367" r:id="rId60"/>
    <p:sldId id="368" r:id="rId61"/>
    <p:sldId id="369" r:id="rId62"/>
    <p:sldId id="370" r:id="rId63"/>
    <p:sldId id="371" r:id="rId64"/>
    <p:sldId id="372" r:id="rId65"/>
    <p:sldId id="373" r:id="rId66"/>
    <p:sldId id="351" r:id="rId67"/>
    <p:sldId id="352" r:id="rId68"/>
    <p:sldId id="353" r:id="rId69"/>
    <p:sldId id="359" r:id="rId70"/>
    <p:sldId id="360" r:id="rId71"/>
    <p:sldId id="361" r:id="rId72"/>
    <p:sldId id="362" r:id="rId73"/>
    <p:sldId id="363" r:id="rId74"/>
    <p:sldId id="364" r:id="rId75"/>
    <p:sldId id="365" r:id="rId76"/>
    <p:sldId id="366" r:id="rId77"/>
    <p:sldId id="354" r:id="rId78"/>
    <p:sldId id="357" r:id="rId79"/>
    <p:sldId id="358" r:id="rId80"/>
  </p:sldIdLst>
  <p:sldSz cx="12192000" cy="6858000"/>
  <p:notesSz cx="6858000" cy="9144000"/>
  <p:embeddedFontLst>
    <p:embeddedFont>
      <p:font typeface="Cambria" panose="02040503050406030204" pitchFamily="18" charset="0"/>
      <p:regular r:id="rId82"/>
      <p:bold r:id="rId83"/>
      <p:italic r:id="rId84"/>
      <p:boldItalic r:id="rId85"/>
    </p:embeddedFont>
    <p:embeddedFont>
      <p:font typeface="Gill Sans" panose="020B0604020202020204" charset="0"/>
      <p:regular r:id="rId86"/>
      <p:bold r:id="rId8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1" d="100"/>
          <a:sy n="121" d="100"/>
        </p:scale>
        <p:origin x="1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3.fntdata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2.fntdata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6.fntdata"/><Relationship Id="rId61" Type="http://schemas.openxmlformats.org/officeDocument/2006/relationships/slide" Target="slides/slide60.xml"/><Relationship Id="rId82" Type="http://schemas.openxmlformats.org/officeDocument/2006/relationships/font" Target="fonts/font1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MX">
                <a:solidFill>
                  <a:schemeClr val="lt1"/>
                </a:solidFill>
              </a:rPr>
              <a:t>MANUAL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CONVERSIÓN UNIDADES RESTFUL .NET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7625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tabLst>
                <a:tab pos="1905000" algn="l"/>
              </a:tabLst>
            </a:pPr>
            <a:r>
              <a:rPr lang="es-EC" b="1">
                <a:solidFill>
                  <a:schemeClr val="lt1"/>
                </a:solidFill>
              </a:rPr>
              <a:t>INTEGRANTES:</a:t>
            </a:r>
            <a:r>
              <a:rPr lang="es-EC">
                <a:solidFill>
                  <a:schemeClr val="lt1"/>
                </a:solidFill>
              </a:rPr>
              <a:t>	ESCOBAR MARCOS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ÑATO CARLOS</a:t>
            </a:r>
            <a:br>
              <a:rPr lang="es-EC">
                <a:solidFill>
                  <a:schemeClr val="lt1"/>
                </a:solidFill>
              </a:rPr>
            </a:br>
            <a:r>
              <a:rPr lang="es-EC">
                <a:solidFill>
                  <a:schemeClr val="lt1"/>
                </a:solidFill>
              </a:rPr>
              <a:t>	SOSA DIEGO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4978400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 [dd/mm/aaaa]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CAMPAÑA MAURICIO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MX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NRC:</a:t>
            </a:r>
            <a:r>
              <a:rPr lang="es-MX" sz="160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 36883 – GR04</a:t>
            </a:r>
            <a:endParaRPr sz="160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9329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DESARROLLO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OBJETIVO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SERVIDOR RESTFUL EN .NET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CONSOLA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ESCRITORIO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WEB</a:t>
            </a:r>
          </a:p>
          <a:p>
            <a:pPr marL="629920" lvl="1" indent="-320040">
              <a:buClr>
                <a:srgbClr val="4590B8"/>
              </a:buClr>
            </a:pPr>
            <a:r>
              <a:rPr lang="es-MX" sz="1400">
                <a:solidFill>
                  <a:srgbClr val="FFFFFF"/>
                </a:solidFill>
                <a:latin typeface="Gill Sans" panose="020B0604020202020204" charset="0"/>
              </a:rPr>
              <a:t>CREACIÓN DEL PROYECTO – CLIENTE MÓVIL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CONCLUSIONES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r>
              <a:rPr lang="es-MX" sz="1700">
                <a:solidFill>
                  <a:srgbClr val="FFFFFF"/>
                </a:solidFill>
                <a:latin typeface="Gill Sans" panose="020B0604020202020204" charset="0"/>
              </a:rPr>
              <a:t>RECOMENDACIONES</a:t>
            </a:r>
          </a:p>
          <a:p>
            <a:pPr marL="305943" indent="-305943">
              <a:spcBef>
                <a:spcPts val="600"/>
              </a:spcBef>
              <a:buClr>
                <a:srgbClr val="4590B8"/>
              </a:buClr>
            </a:pPr>
            <a:endParaRPr sz="1700">
              <a:solidFill>
                <a:srgbClr val="FFFFFF"/>
              </a:solidFill>
              <a:latin typeface="Gill Sans" panose="020B0604020202020204" charset="0"/>
            </a:endParaRPr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596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1.1	OBJETIVO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 general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Desarrollar un sistema de conversión de unidades basado en un servicio web RESTful en .NET, sin base de datos, consumido por clientes de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Objetivos específicos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Implementar el servidor RESTful con autenticación por token y conversión de seis magnitudes.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Construir los cuatro clientes aplicando el patrón MVC.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6340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	CREACIÓN DEL SERVIDOR RESTFUL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ES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· http://localhost:5013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ES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1.2.1	Creación del proyecto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Crear un proyecto ASP.NET Core Web API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Nombrarlo WS_CON_UNI_DOTNET_RESTful (también es su espacio de nombres).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Configurar Kestrel en http://0.0.0.0:5013 (launchSettings.json).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Agregar las dependencias: Microsoft.AspNetCore.OpenApi 10.0.12.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09488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1.2.2	Estructura del proyecto (MVC)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Controladores: LoginController y ConverterController.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Modelos: DTO de respuesta, datos de conversión por magnitud y enumeraciones.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Servicios: TokenService genera y valida el token de sesión.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Endpoints REST (LoginEndpoint, CatalogEndpoint y ConverterEndpoint): exponen las operaciones al exterior.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F6B082-A2C9-0A32-C23D-2D88908BB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68" y="4200207"/>
            <a:ext cx="8164064" cy="227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596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1.2.3	Operaciones expuestas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853CF46-56CE-92A6-2EB6-D387AE33F3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256841"/>
              </p:ext>
            </p:extLst>
          </p:nvPr>
        </p:nvGraphicFramePr>
        <p:xfrm>
          <a:off x="584200" y="2680042"/>
          <a:ext cx="8585201" cy="1584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0788">
                  <a:extLst>
                    <a:ext uri="{9D8B030D-6E8A-4147-A177-3AD203B41FA5}">
                      <a16:colId xmlns:a16="http://schemas.microsoft.com/office/drawing/2014/main" val="2515735965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916300461"/>
                    </a:ext>
                  </a:extLst>
                </a:gridCol>
                <a:gridCol w="1951182">
                  <a:extLst>
                    <a:ext uri="{9D8B030D-6E8A-4147-A177-3AD203B41FA5}">
                      <a16:colId xmlns:a16="http://schemas.microsoft.com/office/drawing/2014/main" val="223148422"/>
                    </a:ext>
                  </a:extLst>
                </a:gridCol>
                <a:gridCol w="3382049">
                  <a:extLst>
                    <a:ext uri="{9D8B030D-6E8A-4147-A177-3AD203B41FA5}">
                      <a16:colId xmlns:a16="http://schemas.microsoft.com/office/drawing/2014/main" val="329755793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Operación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Entrada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Salida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Descripción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60717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Login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usuario, clave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Valida las credenciales y entrega un token de sesión.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30679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Catálogo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lista de unidades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Devuelve las unidades disponibles de una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723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Conversión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token, magnitud, valor, desde, hacia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resultado, estado, mensaje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MX" sz="12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Convierte un valor entre dos unidades de la misma magnitud.</a:t>
                      </a:r>
                      <a:endParaRPr lang="es-EC" sz="12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405111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C29C891-F506-8311-E031-1FA9CDB6BD03}"/>
              </a:ext>
            </a:extLst>
          </p:cNvPr>
          <p:cNvSpPr txBox="1"/>
          <p:nvPr/>
        </p:nvSpPr>
        <p:spPr>
          <a:xfrm>
            <a:off x="584200" y="4417402"/>
            <a:ext cx="85852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Rutas en este proyecto:  login → POST /login  ·  catálogo → GET /catalog/{tipo}  ·  conversión → POST /converter</a:t>
            </a:r>
          </a:p>
        </p:txBody>
      </p:sp>
    </p:spTree>
    <p:extLst>
      <p:ext uri="{BB962C8B-B14F-4D97-AF65-F5344CB8AC3E}">
        <p14:creationId xmlns:p14="http://schemas.microsoft.com/office/powerpoint/2010/main" val="1214661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1.2.4	Magnitudes y unidades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A98E1E-424B-3481-5D10-7508DAC39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495625"/>
              </p:ext>
            </p:extLst>
          </p:nvPr>
        </p:nvGraphicFramePr>
        <p:xfrm>
          <a:off x="584200" y="2680042"/>
          <a:ext cx="8585200" cy="177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6300">
                  <a:extLst>
                    <a:ext uri="{9D8B030D-6E8A-4147-A177-3AD203B41FA5}">
                      <a16:colId xmlns:a16="http://schemas.microsoft.com/office/drawing/2014/main" val="2282152221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258459101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Magnitud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1">
                          <a:solidFill>
                            <a:srgbClr val="FFFFFF"/>
                          </a:solidFill>
                          <a:latin typeface="Gill Sans" panose="020B0604020202020204" charset="0"/>
                        </a:rPr>
                        <a:t>Unidades soportadas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1A32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090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Longitud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 · cm · ft · yd · mi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27367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Masa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g · kg · oz · lb · qq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50188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Volumen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de-DE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mL · L · m3 · ft3 · gal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814449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Tiempo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l-PL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ms · s · min · h · d · w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283076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Temperatura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pt-BR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°C · °F · K · °N · °Ré</a:t>
                      </a:r>
                      <a:endParaRPr lang="es-EC" sz="1300" b="0">
                        <a:solidFill>
                          <a:srgbClr val="3D3D3D"/>
                        </a:solidFill>
                        <a:latin typeface="Cambria" panose="02040503050406030204" pitchFamily="18" charset="0"/>
                      </a:endParaRP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3499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Área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300" b="0">
                          <a:solidFill>
                            <a:srgbClr val="3D3D3D"/>
                          </a:solidFill>
                          <a:latin typeface="Cambria" panose="02040503050406030204" pitchFamily="18" charset="0"/>
                        </a:rPr>
                        <a:t>cm2 · m2 · km2 · ha · ft2 · ac</a:t>
                      </a:r>
                    </a:p>
                  </a:txBody>
                  <a:tcPr marL="76200" marR="76200" marT="38100" marB="38100" anchor="ctr">
                    <a:lnL w="9525" cmpd="sng">
                      <a:solidFill>
                        <a:srgbClr val="C9D2E0"/>
                      </a:solidFill>
                    </a:lnL>
                    <a:lnR w="9525" cmpd="sng">
                      <a:solidFill>
                        <a:srgbClr val="C9D2E0"/>
                      </a:solidFill>
                    </a:lnR>
                    <a:lnT w="9525" cmpd="sng">
                      <a:solidFill>
                        <a:srgbClr val="C9D2E0"/>
                      </a:solidFill>
                    </a:lnT>
                    <a:lnB w="9525" cmpd="sng">
                      <a:solidFill>
                        <a:srgbClr val="C9D2E0"/>
                      </a:solidFill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34248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1004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1.2.5	Código clave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[ApiController] y [Route] publican el recurso POST /converter; ASP.NET Core convierte el JSON en ConvertRequestDTO.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Responde 200 con el resultado o 401 si el token del encabezado Authorization no es válido.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 dirty="0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 dirty="0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766844"/>
              </p:ext>
            </p:extLst>
          </p:nvPr>
        </p:nvGraphicFramePr>
        <p:xfrm>
          <a:off x="3327400" y="2032000"/>
          <a:ext cx="5651500" cy="3053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[Route("converter")]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class ConverterEndpoint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ActionResult&lt;ConverterResponseDTO&gt;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[FromHeader(Name = "Authorization")]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[FromBody] ConvertRequestDTO req)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Unauthorized(new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EstadosEnum.ERROR, "Token Inválido", 0));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Ok(new ConverterResponseDTO(EstadosEnum.OK,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"Conversión Exitosa", ConverterController.Convert(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req.type ?? "", req.value, req.from ?? "", req.to ?? "")));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053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1.2.6	Código fuente del servidor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Configuración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Program.cs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1233087"/>
              </p:ext>
            </p:extLst>
          </p:nvPr>
        </p:nvGraphicFramePr>
        <p:xfrm>
          <a:off x="3327400" y="2032000"/>
          <a:ext cx="5651500" cy="33578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builder = WebApplication.CreateBuilder(args);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Add services to the container.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builder.Services.AddControllers();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Learn more about configuring OpenAPI at https://aka.ms/aspnet/openapi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builder.Services.AddOpenApi();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var app = builder.Build();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Configure the HTTP request pipeline.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if (app.Environment.IsDevelopment())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app.MapOpenApi();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app.UseHttpsRedirection();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app.UseAuthorization();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app.MapControllers();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app.Run();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609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Api/CatalogEndpoint.cs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984835"/>
              </p:ext>
            </p:extLst>
          </p:nvPr>
        </p:nvGraphicFramePr>
        <p:xfrm>
          <a:off x="3327400" y="2032000"/>
          <a:ext cx="5651500" cy="36322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[Route("catalog")]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string FormatType(string? text)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(string.IsNullOrEmpty(text))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text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char.ToUpper(text[0]) +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text.Substring(1).ToLower();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[HttpGet("{type}")]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ActionResult&lt;CatalogResponseDTO&gt; GetCatalog(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[FromRoute] string type,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[FromHeader(Name = "Authorization")]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type = FormatType(type);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CatalogResponseDTO dto;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0705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40304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Validar el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 ?? ""))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"Token Inválido",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var units =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.GetConverter(type)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.GetUnits();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"Obtención de Catálogo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units.ToHashSet()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6597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CatalogEndpoint.cs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6245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CatalogEndpoint.cs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CatalogResponseDTO(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"Tipo de Catálogo Inexistente",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new HashSet&lt;string&gt;()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BadRequest(dto);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[Route("converter")]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ActionResult&lt;ConverterResponseDTO&gt; Convert(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[FromHeader(Name = "Authorization")] string token,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[FromBody] ConvertRequestDTO req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type = req.type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3765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5747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 = req.value;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from = req.from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 = req.to ?? "";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ConverterResponseDTO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(!LoginController.ValidateUser(token))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ConverterResponseDTO(EstadosEnum.ERROR, "Token Inválido", 0);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"Conversión Exitosa",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ConverterController.Convert(type, value, from,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506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ConverterEndpoint.cs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Endpoint REST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30531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ConverterResponseDTO(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"No se pudo hacer la conversión",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0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LoginEndpoint.cs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WS_CON_UNI_DOTNET_RESTful.Api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[ApiController]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[Route("login")]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LoginEndpoint : ControllerBase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ActionResult&lt;LoginResponseDTO&gt; LoginUser([FromBody] LoginRequestDTO req)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req.username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req.password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70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LoginEndpoint.cs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8933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 dto;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 = LoginController.Login(username, password);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 = EstadosEnum.OK,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mensaje = "Ingreso de Sesión Exitoso!",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token = 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Ok(dto);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dto =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"Credenciales Incorrectas",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Unauthorized(dto);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43665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Controllers/ConverterController.cs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4029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IDataConverter GetConverter(string 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(type)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"Area":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AreaModel();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"Longitud":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LongitudModel();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"Masa":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MasaPesoModel();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"Temperatura":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TemperaturaModel();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"Tiempo":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TiempoModel();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"Volumen":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new VolumenModel();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throw new Exception("Type Converter not found!");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double Convert(string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IDataConverter converter = ConverterController.GetConverter(type);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4565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05106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ConverterController.cs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converter.Convert(value, from, 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Login(string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LoginRepository repository = new LoginImplRepository();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repository.ValidateCredentials(username,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ValidateUser(string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TokenService.ValidateToken(token);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0392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TokenService.cs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Services/TokenService.cs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86250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TokenService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HashSet&lt;string&gt; tokensActivos = new HashSet&lt;string&gt;();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string GenerateToken()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token = Guid.NewGuid().ToString();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tokensActivos.Add(token);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ValidateToken(string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tokensActivos.Contains(token);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845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CatalogResponseDTO.cs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Models/DTO/CatalogResponseDTO.cs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26523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CatalogResponseDTO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HashSet&lt;string&gt;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[];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CatalogResponseDTO(EstadosEnum estado, string mensaje, HashSet&lt;string&gt;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6497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ConverterResponseDTO.cs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Models/DTO/ConverterResponseDTO.cs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23658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ConverterResponseDTO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resultado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ConverterResponseDTO(EstadosEnum estado, String mensaje, double resultado)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this.resultado =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2301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ConvertRequestDTO.cs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Models/DTO/ConvertRequestDTO.cs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26592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ConvertRequestDTO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type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value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from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ConvertRequestDTO()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ConvertRequestDTO(string type, 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this.type = type;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this.value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this.from = from;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 = 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16578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LoginRequestDTO.cs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Models/DTO/LoginRequestDTO.cs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888189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LoginRequestDTO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username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password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LoginRequestDTO()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LoginRequestDTO(string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this.username = username;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this.password = password;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1423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Models/DTO/LoginResponseDTO.cs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507147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LoginResponseDTO :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token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LoginResponseDTO(EstadosEnum estado, string mensaje, string token) : base(estado,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this.token = token;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9836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ResponseDTO.cs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DTO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EstadosEnum.cs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Enumeración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827479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ResponseDTO.cs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ResponseDTO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EstadosEnum estado { get; set;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string? mensaje { get; set;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ResponseDTO(EstadosEnum estado, 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this.estado = estado;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this.mensaje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EstadosEnum.cs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WS_CON_UNI_DOTNET_RESTful.Models.Enums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enum EstadosEnum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OK,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ERROR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90581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IDataConverter.cs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Models/Interfaces/IDataConverter.cs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166969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Dictionary&lt;string, double&gt;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valueFrom = map[from];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valueTo = map[to];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value * valueFrom / valueTo;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IEnumerable&lt;string&gt; GetUnits()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ToMap().Keys;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1699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Interfaz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pt-BR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LoginImplRepository.cs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pt-BR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329664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WS_CON_UNI_DOTNET_RESTful.Models.Interfaces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interface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abstract string ValidateCredentials(string username, string password);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LoginImplRepository.cs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LoginImplRepository : 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ValidateCredentials(string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No DB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(!"user".Equals(username) || !"1234".Equals(password))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throw new Exception("Invalid User");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TokenService.GenerateToken();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51010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AreaModel.cs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Models/Data/AreaModel.cs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62324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AreaModel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squareCentimeter = 0.0001;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squareKilometer = 1000000;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hectare = 10000;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squareFeet = 0.092903;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acre = 4046.86;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 Dictionary&lt;string, double&gt;();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data.Add("cm2", squareCentimeter);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data.Add("m2", squareMeter);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data.Add("km2", squareKilometer);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data.Add("ha", hectare);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data.Add("ft2", squareFeet);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data.Add("ac", acre);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07497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Models/Data/LongitudModel.cs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521494"/>
              </p:ext>
            </p:extLst>
          </p:nvPr>
        </p:nvGraphicFramePr>
        <p:xfrm>
          <a:off x="3327400" y="2032000"/>
          <a:ext cx="5651500" cy="41808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LongitudModel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kilometer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hectometer = 100;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decameter = 10;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meter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decimeter = 0.1;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centimeter = 0.01;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private readonly double millimeter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feet = 0.3048;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yard = 0.9144;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mile = 1609.344;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data.Add("km", kilometer);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data.Add("hm", hectometer);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decameter);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data.Add("m", 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data.Add("dm", decimeter);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data.Add("cm", centimeter);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data.Add("mm", millimeter);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data.Add("ft", feet);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data.Add("yd", yard);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data.Add("mi", mile);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0748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LongitudModel.cs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MasaPesoModel.cs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18966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LongitudModel.cs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MasaPesoModel.cs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MasaPesoModel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gram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kilogram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ounce = 0.0283495;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pound = 0.453592;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quintal = 100;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data.Add("g", 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data.Add("kg", kilogram);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data.Add("oz", ounce);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data.Add("lb", pound);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data.Add("qq", quintal);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53153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Models/Data/TemperaturaModel.cs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645250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TemperaturaModel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"°C",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"°F",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"K",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"°N", 1.0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"°Ré", 1.0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double Convert(double value, string from, string 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map = ToMap();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(!map.ContainsKey(from) || !map.ContainsKey(to))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0;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double celsius;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83514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6271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(from)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(value - 32) * 5.0 / 9.0;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- 273.15;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100.0 / 33.0;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celsius = value * 5.0 / 4.0;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break;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8778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TemperaturaModel.cs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2287662"/>
              </p:ext>
            </p:extLst>
          </p:nvPr>
        </p:nvGraphicFramePr>
        <p:xfrm>
          <a:off x="3327400" y="2032000"/>
          <a:ext cx="5651500" cy="267208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switch (to)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"°C":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"°F":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9.0 / 5.0 + 32;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"K":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+ 273.15;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"°N":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33.0 / 100.0;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case "°Ré":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celsius * 4.0 / 5.0;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default: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return 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n-US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747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TiempoModel.cs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Models/Data/TiempoModel.cs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944720"/>
              </p:ext>
            </p:extLst>
          </p:nvPr>
        </p:nvGraphicFramePr>
        <p:xfrm>
          <a:off x="3327400" y="2032000"/>
          <a:ext cx="5651500" cy="39065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TiempoModel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millisecond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second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minute =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hour = 60 * 60;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day = 60 * 60 * 24;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week = 60 * 60 * 24 * 7;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"ms", millisecond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"s", second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"min", minute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"h", hour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"d", day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"w", week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67691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VolumenModel.cs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Datos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Models/Data/VolumenModel.cs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468579-5786-0DFA-EF45-C01BE2FEC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678238"/>
              </p:ext>
            </p:extLst>
          </p:nvPr>
        </p:nvGraphicFramePr>
        <p:xfrm>
          <a:off x="3327400" y="2032000"/>
          <a:ext cx="5651500" cy="36322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2500833343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WS_CON_UNI_DOTNET_RESTful.Models.Data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VolumenModel : IDataConverter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milliliter = 0.001;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liter = 1;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cubicMeter = 1000;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cubicFeet = 28.3168;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double galon = 3.78541;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Dictionary&lt;string, double&gt; ToMap()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Dictionary&lt;string, double&gt; data = new()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"mL", milliliter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"L", liter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"m3", cubicMeter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"ft3", cubicFeet },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 "gal", galon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data;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54985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70258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1.2.7	Ejecución del servidor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Ejecutar el servidor desde Visual Studio 2026 o con dotnet run.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Comprobar el endpoint en http://localhost:5013/login (POST con JSON).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Usuario de prueba: user / 1234.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024494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	CREACIÓN DEL PROYECTO – CLIENTE CONSOLA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10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CONSOLE_CON_UNI_DOTNET_RESTful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menú en la terminal.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98791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HttpClient envía la petición con el token en el encabezado Authorization y devuelve el JSON como texto.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Las llamadas son asíncronas (async/await) para no bloquear el menú mientras responde el servidor.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254388"/>
              </p:ext>
            </p:extLst>
          </p:nvPr>
        </p:nvGraphicFramePr>
        <p:xfrm>
          <a:off x="3327400" y="2032000"/>
          <a:ext cx="5651500" cy="288544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internal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"http://localhost:5000/";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 = new HttpClient();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HttpMethod.Get, baseUrl + endpoint);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HttpResponseMessage response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9071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78449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CONSOLE_CON_UNI_DOTNET_RESTful.Models.HTTP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string baseUrl = "http://localhost:5000/";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this.http = new HttpClient();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GetAsync(EndpointsEnum endpoint)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12016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913413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GetAsync(EndpointsEnum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GetAsync(string endpoint,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HttpMethod.Get,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406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42397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PostAsync(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EndpointsEnum endpoint,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request.Content = new StringContent(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"application/json"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0351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102432"/>
              </p:ext>
            </p:extLst>
          </p:nvPr>
        </p:nvGraphicFramePr>
        <p:xfrm>
          <a:off x="3327400" y="2032000"/>
          <a:ext cx="5651500" cy="322072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Task&lt;string&gt; PostAsync(EndpointsEnum endpoint, string json)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HttpRequestMessage request = new HttpRequestMessage(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baseUrl + endpoint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request.Headers.Add("Accept",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request.Content = new StringContent(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"application/json"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HttpResponseMessage response = await http.SendAsync(request);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response.Content.ReadAsStringAsync();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41531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Controllers/LoginController.cs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4662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Task&lt;LoginResponseDTO&gt; LoginAsync(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RESTfulClient client = new RESTfulClient();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body = new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 = username,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 =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string json = await client.PostAsync(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EndpointsEnum.login,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JsonSerializer.Serialize(body)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LoginResponseDTO dto = LoginResponseDTO.FromJSON(json);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ConfigHTTP.token = dto.GetToken();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21495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83184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dto;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new LoginResponseDTO(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EstadosEnum.ERROR,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"Error al iniciar sesión: " + e.Message,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null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LoginView.cs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CONSOLE_CON_UNI_DOTNET_SOAP.Views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internal class LoginView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static bool UserHasLogin()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ctrl = new LoginController();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Username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MessagesUtils.PrintMessage("Username: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username = Console.ReadLine() ?? string.Empty;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8248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LoginView.cs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56B205A-4699-4C50-2FBA-260DBA3EB7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64443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442682901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Password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MessagesUtils.PrintMessage("Password: 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password = Console.ReadLine() ?? string.Empty;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LoginResponseDTO? res = ctrl.LoginAsync(username, password).Result;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(res is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MessagesUtils.PrintMessage("No se recibió respuesta del servicio.");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false;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MessagesUtils.PrintMessage(res.mensaje ?? string.Empty);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Thread.Sleep(TimeSpan.FromSeconds(3));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res.estado == EstadosEnum.OK;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153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32147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1.3.4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CC6895-9F9B-AF13-7091-FBE97BBA6CA3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7000A303-6A94-CFE9-1425-A50805EDACE6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30EF05-5BFC-2AE7-9AFE-A4FADDB0FFD2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43962DC6-A79C-52B9-1306-39802F69A5F9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A02A9-C5E0-9F73-063C-1D09BCB918A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BF6A363-5757-7B97-A751-51A0AC1A5F8C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9" name="Captura Inicio de sesión">
            <a:extLst>
              <a:ext uri="{FF2B5EF4-FFF2-40B4-BE49-F238E27FC236}">
                <a16:creationId xmlns:a16="http://schemas.microsoft.com/office/drawing/2014/main" id="{4D3E9AAA-F4E9-924A-0D59-ED32572D90BF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1" name="Captura Conversión">
            <a:extLst>
              <a:ext uri="{FF2B5EF4-FFF2-40B4-BE49-F238E27FC236}">
                <a16:creationId xmlns:a16="http://schemas.microsoft.com/office/drawing/2014/main" id="{940ED688-E834-EB40-2CC7-D56F1ACE085B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13" name="Captura Catálogo de unidades">
            <a:extLst>
              <a:ext uri="{FF2B5EF4-FFF2-40B4-BE49-F238E27FC236}">
                <a16:creationId xmlns:a16="http://schemas.microsoft.com/office/drawing/2014/main" id="{BA505BF0-A179-F383-AC83-C9BE21AD9C0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050ABF-276D-1135-D3D4-6530F8E46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74" y="3079484"/>
            <a:ext cx="1926055" cy="32012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3A73C55-20D9-68C9-65E3-65211E887B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9102" y="3079484"/>
            <a:ext cx="2305050" cy="322897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AE4AE0-07D8-3069-A92B-1ED9A3BCD2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3031048"/>
            <a:ext cx="2283026" cy="327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7800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	CREACIÓN DEL PROYECTO – CLIENTE ESCRITORIO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WinForms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ESC_CON_UNI_DOTNET_RESTful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ventanas de login y principal.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56461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Arma las peticiones POST con cuerpo JSON hacia http://localhost:5013 y agrega el token cuando hay sesión.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HttpClient tiene un tiempo de espera de 15 s para que la ventana no quede esperando sin fin.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57577"/>
              </p:ext>
            </p:extLst>
          </p:nvPr>
        </p:nvGraphicFramePr>
        <p:xfrm>
          <a:off x="3327400" y="2032000"/>
          <a:ext cx="5651500" cy="3388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Task&lt;string&gt; PostAsync(EndpointsEnum endpoint,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Peticion(HttpMethod.Post,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peticion.Content = new StringContent(json,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HttpRequestMessage Peticion(HttpMethod metodo,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26975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8087341"/>
              </p:ext>
            </p:extLst>
          </p:nvPr>
        </p:nvGraphicFramePr>
        <p:xfrm>
          <a:off x="3327400" y="2032000"/>
          <a:ext cx="5651500" cy="376936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Transporte HTTP mínimo hacia el servidor RESTful. El token de la sesión viaja en la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cabecera Authorization y se omite cuando es null (login). El cuerpo se devuelve como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texto sea cual sea el código de estado, porque el servidor informa sus errores dentro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de un cuerpo JSON.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UrlBase = "http://localhost:5013/";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: this(UrlBase)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RESTfulClient(string urlBase,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this.urlBase = urlBase.EndsWith('/')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 = manejador ==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http.Timeout = TiempoPeticion;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73052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4035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GetAsync(string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EnviarAsync(Peticion(HttpMethod.Get, recurso, token));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PostAsync(EndpointsEnum endpoint,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Peticion(HttpMethod.Post,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peticion.Content = new StringContent(json,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HttpRequestMessage Peticion(HttpMethod metodo,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88219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83206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Task&lt;string&gt; EnviarAsync(HttpRequestMessage 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LoginControlador.cs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Maneja la pantalla de login: valida los datos, pide al modelo iniciar sesión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y le dice a la vista qué mostrar después.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ILoginVista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ConversorServicio servicio;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27676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LoginControlador.cs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74095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LoginControlador(ILoginVista vista, ConversorServicio servicio)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this.vista = vista;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this.servicio = servicio;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vista.AlIngresar(IngresarAsync);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 IngresarAsync()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usuario = vista.Usuario;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string clave = vista.Clave;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vista.MostrarError(CredencialesVacias);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servicio.IniciarSesionAsync(usuario.Trim(),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vista.MostrarError(e.Message);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40035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ec/edu/monster/vista/LoginFrame.cs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1680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Ventana de login. La navegación a la ventana principal se delega en 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callback alAbrirMenu que entrega App.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LoginFrame : Form, ILoginVista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Action alAbrirMenu;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campoUsuario = Estilos.Entrada();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TextBox campoClave = Estilos.Entrada(clave: 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Button botonIngresar = Estilos.BotonPrimario("Ingresar");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Func&lt;Task&gt; accionIngresar = () =&gt; Task.CompletedTask;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IndicadorEstado Estado { get; } 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new("Servicio disponible", "Servicio no disponible");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LoginFrame(Action alAbrirMenu)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this.alAbrirMenu = alAbrirMenu;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8347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88889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SuspendLayout();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AutoScaleDimensions = new SizeF(96F, 96F);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AutoScaleMode = AutoScaleMode.Dpi;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Text = Estilos.TituloVentana;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ClientSize = new Size(640, 460);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MinimumSize = new Size(480, 420);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StartPosition = FormStartPosition.CenterScreen;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BackColor = Estilos.Fondo;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Font = Estilos.Fuente;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Controls.Add(ConstruirContenido());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Controls.Add(Estado);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MainMenuStrip = Estilos.BarraMenu(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Estilos.Menu("Archivo", Estilos.Opcion("Salir", Close)),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Estilos.MenuAyuda(this));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Controls.Add(MainMenuStrip);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AcceptButton = botonIngresar;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botonIngresar.Click += (_, _) =&gt; Ingresar();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Shown += (_, _) =&gt;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campoUsuario.Focus();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Estado.Iniciar();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ResumeLayout(false);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PerformLayout();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89019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6600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Control ConstruirContenido()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formulario = new TableLayoutPanel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ColumnCount = 1,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Padding = new Padding(50, 30, 50, 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BackColor = Estilos.Fondo,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formulario.ColumnStyles.Add(new ColumnStyle(SizeType.Percent, 100));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filaBoton = new FlowLayoutPanel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FlowDirection = FlowDirection.RightToLeft,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Dock = DockStyle.Fill,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AutoSize =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Margin = new Padding(0),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filaBoton.Controls.Add(botonIngresar);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formulario.Controls.Add(Estilos.Titulo("Iniciar sesión"));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formulario.Controls.Add(Estilos.Etiqueta("Usuario"));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formulario.Controls.Add(campoUsuario);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formulario.Controls.Add(Estilos.Etiqueta("Contraseña"));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formulario.Controls.Add(filaBoton);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formulario;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62473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LoginFrame.cs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EB15A7-5793-3336-7E72-05C1B4BB9F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586780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51935297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Ingresar()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Estilos.Ejecutar(accionIngresar, MostrarError, botonIngresar, campoUsuario, campoClave);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Usuario =&gt; campoUsuario.Text;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string Clave =&gt; campoClave.Text;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MessageBox.Show(this, mensaje, Estilos.TituloVentana, MessageBoxButtons.OK, MessageBoxIcon.Error);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AbrirMenu()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no se queda en memoria de una ventana que ya no se usa.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campoClave.Clear();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alAbrirMenu();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void AlIngresar(Func&lt;Task&gt; accion)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accionIngresar = accion;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42461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62076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1.4.4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40D37B-A419-ACA5-993C-C7CCBC4AB201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BAA0578F-2CA7-5766-1DCA-5C3A8FDE0742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4754B3-24E3-2F23-4866-2196E68AE806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212CAC36-DA98-0236-B81E-D6AFDEE3824E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2DED42-0D9F-0BF7-8368-492B87D4022E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9E6EE889-17B1-E86F-E848-585995A9ABAB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8FD8BA-548C-8843-116E-442C9CE7C7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3584220"/>
            <a:ext cx="2570640" cy="21126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64E99E-AE94-0B7F-DFBC-B93B7A01A1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1" y="3693802"/>
            <a:ext cx="2667000" cy="18046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ABCA599-88DF-B0FF-6DC3-CF7F2942564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7112" b="60054"/>
          <a:stretch>
            <a:fillRect/>
          </a:stretch>
        </p:blipFill>
        <p:spPr>
          <a:xfrm>
            <a:off x="581191" y="3693801"/>
            <a:ext cx="2632964" cy="191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93383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	CREACIÓN DEL PROYECTO – CLIENTE WEB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MVC + HttpClient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WEB_CON_UNI_DOTNET_RESTful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páginas de login, menú,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34797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controlador MVC recibe el formulario y llama a la API REST a través de ConversorServicio y RESTfulClient.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Si el login falla, vuelve a mostrar la vista con el mensaje; si funciona, guarda la sesión y va al menú.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997784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async Task&lt;IActionResult&gt; Ingresar(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... validación de campos vacíos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197933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Conexión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ec/edu/monster/modelo/http/RESTfulClient.cs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404379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ec.edu.monster.modelo.http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Transporte HTTP mínimo hacia el servidor RESTful. El token de la sesión viaja en la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cabecera Authorization y se omite cuando es null (login). El cuerpo se devuelve como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texto sea cual sea el código de estado, porque el servidor informa sus errores dentro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de un cuerpo JSON.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RESTfulClient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UrlBase = "http://localhost:5013/";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// El servidor lo comparten varios clientes y puede trabarse: mejor fallar que esperar sin fin.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static readonly TimeSpan TiempoPeticion = TimeSpan.FromSeconds(15);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string urlBase;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HttpClient 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RESTfulClient() : this(UrlBase) {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RESTfulClient(string urlBase,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this.urlBase = urlBase.EndsWith('/') ? urlBase : urlBase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 = manejador ==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http.Timeout = TiempoPeticion;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8836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85899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GetAsync(string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EnviarAsync(Peticion(HttpMethod.Get, recurso, token));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Task&lt;string&gt; PostAsync(EndpointsEnum endpoint,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Peticion(HttpMethod.Post, endpoint.ToString(),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peticion.Content = new StringContent(json, Encoding.UTF8, 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EnviarAsync(peticion);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HttpRequestMessage Peticion(HttpMethod metodo, string recurso,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peticion = new HttpRequestMessage(metodo, urlBase + recurso);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(token !=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peticion;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7623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RESTfulClient.cs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7021866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RESTfulClient.cs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Task&lt;string&gt; EnviarAsync(HttpRequestMessage 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using var respuesta = await 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ec.edu.monster.controlador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Página de login: valida los datos, pide al modelo iniciar sesión y, si todo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sale bien, guarda la sesión del usuario.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/// &lt;/summary&gt;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public class LoginController(IFabricaServicios fabrica) : Controller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const string CredencialesVacias = "Ingrese usuario y contraseña";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IActionResult Inicio()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Redirect("~/login");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176500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61621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[HttpGet("/login")]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Mostrar()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(SesionUsuario.Activa(HttpContext))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await VistaAsync(new LoginVista());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[HttpPost("/login")]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async Task&lt;IActionResult&gt; Ingresar(string? usuario, string? clave)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// La contraseña nunca se devuelve a la página.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vista = new LoginVista { Usuario = usuario ?? "" };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if (string.IsNullOrWhiteSpace(usuario) || string.IsNullOrWhiteSpace(clave))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CredencialesVacias;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77697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(3/3)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20451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var sesion = new Sesion();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await fabrica.CrearServicio(sesion).IniciarSesionAsync(usuario.Trim(), clave);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catch (ServicioException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SesionUsuario.Cerrar(HttpContext);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vista.Error = e.Message;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return await VistaAsync(vista);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SesionUsuario.Guardar(HttpContext, sesion);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Redirect("~/menu");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Task&lt;IActionResult&gt; VistaAsync(LoginVista vista)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ViewData["ServicioDisponible"] = await fabrica.DisponibleAsync();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return View("login", vista);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41912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ec/edu/monster/vista/login.cshtml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403985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@model LoginVista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ViewData["Titulo"] = "Iniciar sesión";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&lt;main class="contenido-centrado"&gt;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&lt;section class="tarjeta tarjeta-login"&gt;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&lt;h1&gt;Iniciar sesión&lt;/h1&gt;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method="post" action="~/login" asp-antiforgery="true" novalidate&gt;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for="usuario"&gt;Usuario&lt;/label&gt;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type="text" id="usuario" name="usuario" value="@Model.Usuario"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   autocomplete="username" autofocus&gt;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&lt;label for="clave"&gt;Contraseña&lt;/label&gt;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&lt;input type="password" id="clave" name="clave" autocomplete="current-password"&gt;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class="boton"&gt;Ingresar&lt;/button&gt;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&lt;/section&gt;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&lt;/main&gt;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@if (!string.IsNullOrEmpty(Model.Error))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&lt;dialog id="dialogo-error" class="dialogo" open&gt;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&lt;h2&gt;Error de autenticación&lt;/h2&gt;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&lt;p&gt;@Model.Error&lt;/p&gt;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&lt;form method="dialog"&gt;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&lt;button type="submit" class="boton"&gt;Aceptar&lt;/button&gt;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&lt;/form&gt;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&lt;/dialog&gt;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// Se reabre como modal para oscurecer la página de fondo, como en el mockup.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(function ()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var dialogo = document.getElementById('dialogo-error');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619309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login.cshtml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19FE6F8-8DBE-CD7C-E44F-40BFB8EDA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310074"/>
              </p:ext>
            </p:extLst>
          </p:nvPr>
        </p:nvGraphicFramePr>
        <p:xfrm>
          <a:off x="3327400" y="2032000"/>
          <a:ext cx="5651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62388314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if (dialogo &amp;&amp; dialogo.showModal)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dialogo.close();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    dialogo.showModal();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})();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&lt;/script&gt;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0995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29849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1.5.4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DDFE14-8DF9-5263-B278-70EE7B5C778B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3" name="Captura Inicio de sesión">
            <a:extLst>
              <a:ext uri="{FF2B5EF4-FFF2-40B4-BE49-F238E27FC236}">
                <a16:creationId xmlns:a16="http://schemas.microsoft.com/office/drawing/2014/main" id="{6CE6F57F-08DF-38F3-DF9A-F0AC073D2E2A}"/>
              </a:ext>
            </a:extLst>
          </p:cNvPr>
          <p:cNvSpPr/>
          <p:nvPr/>
        </p:nvSpPr>
        <p:spPr>
          <a:xfrm>
            <a:off x="5842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91ABDA-FEDD-7366-EC3E-6AA0B31052DC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5" name="Captura Conversión">
            <a:extLst>
              <a:ext uri="{FF2B5EF4-FFF2-40B4-BE49-F238E27FC236}">
                <a16:creationId xmlns:a16="http://schemas.microsoft.com/office/drawing/2014/main" id="{6E6FF01F-0DAA-C6ED-89B8-560777E2A711}"/>
              </a:ext>
            </a:extLst>
          </p:cNvPr>
          <p:cNvSpPr/>
          <p:nvPr/>
        </p:nvSpPr>
        <p:spPr>
          <a:xfrm>
            <a:off x="35433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F5F1EB-07CB-4776-FC14-80940F3D5383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sp>
        <p:nvSpPr>
          <p:cNvPr id="7" name="Captura Catálogo de unidades">
            <a:extLst>
              <a:ext uri="{FF2B5EF4-FFF2-40B4-BE49-F238E27FC236}">
                <a16:creationId xmlns:a16="http://schemas.microsoft.com/office/drawing/2014/main" id="{20AED486-7A75-B45E-0724-000E81903882}"/>
              </a:ext>
            </a:extLst>
          </p:cNvPr>
          <p:cNvSpPr/>
          <p:nvPr/>
        </p:nvSpPr>
        <p:spPr>
          <a:xfrm>
            <a:off x="6502400" y="3010242"/>
            <a:ext cx="2667000" cy="3339758"/>
          </a:xfrm>
          <a:prstGeom prst="rect">
            <a:avLst/>
          </a:prstGeom>
          <a:solidFill>
            <a:srgbClr val="F4F6FA"/>
          </a:solidFill>
          <a:ln w="12700">
            <a:solidFill>
              <a:srgbClr val="9AA5B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sz="1200" i="1">
                <a:solidFill>
                  <a:srgbClr val="6B7280"/>
                </a:solidFill>
                <a:latin typeface="Cambria" panose="02040503050406030204" pitchFamily="18" charset="0"/>
              </a:rPr>
              <a:t>Insertar captura de pantalla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22AAEF-8713-0CC4-D968-4346F42D8C2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E15F103-5CC1-9DB6-A22B-8D8125AFC6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42" t="-1" r="26887" b="25898"/>
          <a:stretch>
            <a:fillRect/>
          </a:stretch>
        </p:blipFill>
        <p:spPr>
          <a:xfrm>
            <a:off x="772948" y="3429000"/>
            <a:ext cx="2317094" cy="244489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1A13707-BEC3-06EB-17A1-81185B32C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1154" y="3809999"/>
            <a:ext cx="2639146" cy="178421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7759A72-8C4D-A781-28EC-14A12A8ED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0" y="3744815"/>
            <a:ext cx="2639146" cy="170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6928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9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	CREACIÓN DEL PROYECTO – CLIENTE MÓVIL</a:t>
            </a:r>
          </a:p>
          <a:p>
            <a:pPr marL="34290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700" i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.NET MAUI (Android) · patrón MVC</a:t>
            </a:r>
          </a:p>
          <a:p>
            <a:pPr marL="0" indent="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8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1.6.1	Creación y estructura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Proyecto MOV_CON_UNI_DOTNET_RESTFUL creado en Visual Studio 2026.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Modelo: conexión con el servidor y sesión del usuario.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Vista: pantallas de login, catálogo y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7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Controlador: login, catálogo y conversión.</a:t>
            </a:r>
            <a:endParaRPr sz="1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76427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5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1.6.2	Código clave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7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app MAUI usa HttpClient con la URL base de RestConfig y envía el token en Authorization.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Devuelve el código HTTP y el cuerpo para que el controlador muestre el mensaje del servidor si hay error.</a:t>
            </a:r>
            <a:endParaRPr sz="14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3115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Task&lt;RespuestaHttp&gt; PostJsonAsync(string ruta,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var peticion = new HttpRequestMessage(HttpMethod.Post, ruta)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Content = new StringContent(json, Encoding.UTF8,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"application/json"),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EnviarAsync(peticion,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11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private async Task&lt;RespuestaHttp&gt; EnviarAsync(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HttpRequestMessage peticion,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if (token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using var respuesta = await _http.SendAsync(peticion);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string cuerpo =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return new RespuestaHttp((int)respuesta.StatusCode,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respuesta.ReasonPhrase,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11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45510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4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1.6.3	Código fuente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endParaRPr lang="es-MX" sz="6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Servicio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Services/ClienteRest.cs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528849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MOV_CON_UNI_DOTNET_RESTFUL.Services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record RespuestaHttp(int Codigo, string? Razon, string Cuerpo)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bool EsExitosa =&gt; Codigo is &gt;= 200 and &lt;= 299;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ClienteRest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HttpClient _http;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string BaseUrl { get;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ClienteRest(string baseUrl, HttpMessageHandler? manejador 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BaseUrl = baseUrl.EndsWith('/') ? baseUrl : baseUrl + "/";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 = manejador is null ? new HttpClient() : new HttpClient(manejador);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_http.BaseAddress = new Uri(BaseUrl);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_http.Timeout = RestConfig.Timeout;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Task&lt;RespuestaHttp&gt; GetAsync(string ruta,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=&gt; EnviarAsync(new HttpRequestMessage(HttpMethod.Get, ruta), token);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76897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ClienteRest.cs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84248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Task&lt;RespuestaHttp&gt; PostJsonAsync(string ruta, string json,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peticion = new HttpRequestMessage(HttpMethod.Post, ruta)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Content = new StringContent(json, Encoding.UTF8, "application/json"),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EnviarAsync(peticion, token);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async Task&lt;RespuestaHttp&gt; EnviarAsync(HttpRequestMessage peticion, string? token)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using (peticion)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peticion.Headers.Accept.ParseAdd("application/json");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peticion.Headers.TryAddWithoutValidation("Authorization", 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using HttpResponseMessage respuesta = await _http.SendAsync(peticion);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cuerpo = await respuesta.Content.ReadAsStringAsync();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RespuestaHttp((int)respuesta.StatusCode, respuesta.ReasonPhrase, cuerpo);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89186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Modelo · Repositorio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Models/Repositories/LoginRepository.cs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369077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MOV_CON_UNI_DOTNET_RESTFUL.Models.Repositories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LoginRepository(ClienteRest cliente) : ILoginRepository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ClienteRest _cliente = cliente;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 username, string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(RestErrores.SinRed())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RestErrores.SinConexion,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string json = JsonSerializer.Serialize(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new LoginRequestDTO(username, password), JsonContexto.Default.LoginRequestDTO);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RespuestaHttp respuesta = await _cliente.PostJsonAsync("login", json, token: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LoginResponseDTO? dto = RestErrores.LeerDto(respuesta, JsonContexto.Default.LoginResponseDTO);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 ==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RestErrores.MensajeSinDto(respuesta),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(dto.Estado != EstadosEnum.OK)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RestErrores.MensajeServidor(dto.Mensaje, "Usuario o contraseña incorrectos"),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if (string.IsNullOrWhiteSpace(dto.Token))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return new LoginResult(false, RestErrores.RespuestaIncompleta, null);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38905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LoginRepository.cs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(1/2)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Controlador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18627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LoginRepository.cs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Success: true,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Message: dto.Mensaje ?? "",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Token: dto.Token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  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catch (Exception ex)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RestErrores.Mensaje(ex),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MOV_CON_UNI_DOTNET_RESTFUL.Controllers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class LoginController(ILoginRepository loginRepository, SessionService session) : ControladorConSesion(session)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MaxUsuario = 50;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const int MaxPassword = 64;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private readonly ILoginRepository _loginRepository = loginRepository;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public async Task&lt;LoginResult&gt; LoginAsync(string? username, string? 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usuario = username?.Trim() ?? "";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string clave = password?.Trim() ?? "";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235643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LoginController.cs  (2/2)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</a:p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(1/4)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Capa: Vista</a:t>
            </a:r>
            <a:endParaRPr sz="1200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8977973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LoginController.cs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el usuario",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== 0)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"Ingrese la contraseña",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(usuario.Length &gt; MaxUsuario)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$"El usuario no puede superar {MaxUsuario} caracteres", null);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(clave.Length &gt; MaxPassword)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return new LoginResult(false, $"La contraseña no puede superar {MaxPassword} caracteres", null);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LoginResult resultado = await _loginRepository.LoginAsync(usuario, clave);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 &amp;&amp; resultado.Token is not null)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Session.Iniciar(usuario, resultado.Token);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 resultado;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// ===== LoginPage.xaml.cs =====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namespace MOV_CON_UNI_DOTNET_RESTFUL.Views;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public partial class LoginPage : ContentPage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readonly LoginController _controller;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351237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(2/4)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8492972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public LoginPage(LoginController controller)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InitializeComponent();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_controller = controller;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OnUsuarioCompleted(object? sender, EventArgs e) =&gt; PasswordEntry.Focus();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async void OnIngresarClicked(object? sender, EventArgs 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if (!IngresarButton.IsEnabled)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return;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MostrarCargando(true);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false;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try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var resultado = await _controller.LoginAsync(UsernameEntry.Text, PasswordEntry.Text);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019397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(3/4)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630141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if (resultado.Success)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PasswordEntry.Text = string.Empty;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await Shell.Current.GoToAsync("//main/conversion");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else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  MostrarError(resultado.Message);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catch (Exception)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MostrarError("Ocurrió un error inesperado. Intente de nuevo.");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finally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  MostrarCargando(false);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endParaRPr lang="es-EC" sz="900" b="0">
                        <a:solidFill>
                          <a:srgbClr val="4F81BD"/>
                        </a:solidFill>
                        <a:latin typeface="Calibri" panose="020F0502020204030204" pitchFamily="34" charset="0"/>
                      </a:endParaRP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MostrarCargando(bool cargando)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IngresarButton.IsEnabled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UsernameEntry.IsEnabled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PasswordEntry.IsEnabled = !cargando;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CargandoIndicator.IsRunning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CargandoIndicator.IsVisible = cargando;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2306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0"/>
            <a:ext cx="25400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6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 sz="13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LoginPage.xaml.cs  (4/4)</a:t>
            </a:r>
          </a:p>
          <a:p>
            <a:pPr marL="342900" indent="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None/>
            </a:pPr>
            <a:r>
              <a:rPr lang="es-MX" sz="1200" i="1">
                <a:solidFill>
                  <a:srgbClr val="6B7280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continuación</a:t>
            </a:r>
            <a:endParaRPr sz="1200" i="1">
              <a:solidFill>
                <a:srgbClr val="6B7280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62C8ADC-FCB7-2320-E6E4-E032F71E0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6365878"/>
              </p:ext>
            </p:extLst>
          </p:nvPr>
        </p:nvGraphicFramePr>
        <p:xfrm>
          <a:off x="3327400" y="2032000"/>
          <a:ext cx="5778500" cy="2540000"/>
        </p:xfrm>
        <a:graphic>
          <a:graphicData uri="http://schemas.openxmlformats.org/drawingml/2006/table">
            <a:tbl>
              <a:tblPr firstRow="1" bandRow="1">
                <a:tableStyleId>{BF136021-7255-42B7-A7E7-87A8D8FFE9CA}</a:tableStyleId>
              </a:tblPr>
              <a:tblGrid>
                <a:gridCol w="5651500">
                  <a:extLst>
                    <a:ext uri="{9D8B030D-6E8A-4147-A177-3AD203B41FA5}">
                      <a16:colId xmlns:a16="http://schemas.microsoft.com/office/drawing/2014/main" val="3765693752"/>
                    </a:ext>
                  </a:extLst>
                </a:gridCol>
              </a:tblGrid>
              <a:tr h="2540000">
                <a:tc>
                  <a:txBody>
                    <a:bodyPr/>
                    <a:lstStyle/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private void MostrarError(string mensaje)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{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ErrorLabel.Text = mensaje;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  ErrorLabel.IsVisible = true;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  }</a:t>
                      </a:r>
                    </a:p>
                    <a:p>
                      <a:pPr algn="l">
                        <a:buFontTx/>
                        <a:buNone/>
                      </a:pPr>
                      <a:r>
                        <a:rPr lang="es-EC" sz="900" b="0">
                          <a:solidFill>
                            <a:srgbClr val="4F81BD"/>
                          </a:solidFill>
                          <a:latin typeface="Calibri" panose="020F0502020204030204" pitchFamily="34" charset="0"/>
                        </a:rPr>
                        <a:t>}</a:t>
                      </a:r>
                    </a:p>
                  </a:txBody>
                  <a:tcPr marL="127000" marT="101600" marB="10160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3957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095768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032001"/>
            <a:ext cx="8585200" cy="49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lnSpc>
                <a:spcPct val="107000"/>
              </a:lnSpc>
              <a:spcBef>
                <a:spcPts val="40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ES" sz="1700" b="1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1.6.4	Vistas</a:t>
            </a:r>
            <a:endParaRPr sz="1700" b="1"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93915-812D-65D8-0E45-62D84FEB4F80}"/>
              </a:ext>
            </a:extLst>
          </p:cNvPr>
          <p:cNvSpPr txBox="1"/>
          <p:nvPr/>
        </p:nvSpPr>
        <p:spPr>
          <a:xfrm>
            <a:off x="5842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Inicio de sesión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ACCC9-4F19-5DA4-28BF-DDCDAE5768B8}"/>
              </a:ext>
            </a:extLst>
          </p:cNvPr>
          <p:cNvSpPr txBox="1"/>
          <p:nvPr/>
        </p:nvSpPr>
        <p:spPr>
          <a:xfrm>
            <a:off x="35433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Conversión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644BC0-CCED-6A7F-A46D-F8C4D97827C8}"/>
              </a:ext>
            </a:extLst>
          </p:cNvPr>
          <p:cNvSpPr txBox="1"/>
          <p:nvPr/>
        </p:nvSpPr>
        <p:spPr>
          <a:xfrm>
            <a:off x="6502400" y="2629242"/>
            <a:ext cx="2667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EC" b="1">
                <a:solidFill>
                  <a:srgbClr val="3D3D3D"/>
                </a:solidFill>
                <a:latin typeface="Cambria" panose="02040503050406030204" pitchFamily="18" charset="0"/>
              </a:rPr>
              <a:t>Vista: Catálogo de unidades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255F960-316D-95BA-FE67-CC477AF2CD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79"/>
          <a:stretch>
            <a:fillRect/>
          </a:stretch>
        </p:blipFill>
        <p:spPr>
          <a:xfrm>
            <a:off x="702628" y="3010242"/>
            <a:ext cx="1944447" cy="33864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A57958-3F83-170C-0DD5-530B62E63B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1432" y="2937019"/>
            <a:ext cx="1788140" cy="387244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BF13F9-C9F8-651D-A7DC-6C3541B7D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9727" y="2937019"/>
            <a:ext cx="1588814" cy="344077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E9549DB-6063-36C2-5572-08ABE675A0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8541" y="2937019"/>
            <a:ext cx="1554362" cy="336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0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El servidor RESTful fue consumido por cuatro clientes distintos sin cambiar su lógica, lo que muestra la interoperabilidad de una arquitectura orientada a servicios.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La autenticación por token separa la seguridad de la lógica de conversión.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Aplicar MVC en cada cliente permitió repetir la misma estructura en consola, escritorio, web y móvil.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ASP.NET Core Web API devolvió códigos HTTP claros (200, 400 y 401) según el resultado de cada operación.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939347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4200" y="2184400"/>
            <a:ext cx="8585200" cy="44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una base de datos para los usuarios y el historial de conversiones.</a:t>
            </a:r>
          </a:p>
          <a:p>
            <a:pPr marL="342900" indent="-342900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Usar HTTPS para proteger el token en la red.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Validar en el servidor que las dos unidades pertenezcan a la magnitud elegida.</a:t>
            </a:r>
          </a:p>
          <a:p>
            <a:pPr marL="342900" indent="-342900" algn="just">
              <a:lnSpc>
                <a:spcPct val="107000"/>
              </a:lnSpc>
              <a:spcBef>
                <a:spcPts val="0"/>
              </a:spcBef>
              <a:spcAft>
                <a:spcPts val="400"/>
              </a:spcAft>
              <a:buClr>
                <a:srgbClr val="4590B8"/>
              </a:buClr>
              <a:buChar char="∙"/>
            </a:pPr>
            <a:r>
              <a:rPr lang="es-MX">
                <a:solidFill>
                  <a:srgbClr val="3D3D3D"/>
                </a:solidFill>
                <a:latin typeface="Cambria" panose="02040503050406030204" pitchFamily="18" charset="0"/>
                <a:ea typeface="Cambria"/>
                <a:cs typeface="Cambria"/>
                <a:sym typeface="Cambria"/>
              </a:rPr>
              <a:t>Activar la documentación OpenAPI ya incluida para probar los endpoints desde el navegador.</a:t>
            </a:r>
            <a:endParaRPr>
              <a:solidFill>
                <a:srgbClr val="3D3D3D"/>
              </a:solidFill>
              <a:latin typeface="Cambria" panose="02040503050406030204" pitchFamily="18" charset="0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DESARROLLO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OBJETIVO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SERVIDOR RESTFUL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CONSOLA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ESCRITORIO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WEB</a:t>
            </a:r>
          </a:p>
          <a:p>
            <a:pPr marL="763143" lvl="1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CREACIÓN DEL PROYECTO – CLIENTE MÓVIL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FF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CONCLUSIONES</a:t>
            </a:r>
          </a:p>
          <a:p>
            <a:pPr marL="305943" indent="-305943">
              <a:spcBef>
                <a:spcPts val="840"/>
              </a:spcBef>
              <a:buClr>
                <a:srgbClr val="FFFF00"/>
              </a:buClr>
              <a:buSzPts val="1400"/>
              <a:buFont typeface="+mj-lt"/>
              <a:buChar char="◼"/>
            </a:pPr>
            <a:r>
              <a:rPr lang="es-MX" sz="1200" b="1" i="0" u="none" strike="noStrike" cap="none">
                <a:solidFill>
                  <a:srgbClr val="FFFF00"/>
                </a:solidFill>
                <a:latin typeface="Gill Sans" panose="020B0604020202020204" charset="0"/>
                <a:ea typeface="Arial"/>
                <a:cs typeface="Arial"/>
                <a:sym typeface="Arial"/>
              </a:rPr>
              <a:t>RECOMENDACIONES</a:t>
            </a:r>
          </a:p>
          <a:p>
            <a:pPr marL="305943" indent="-305943">
              <a:spcBef>
                <a:spcPts val="840"/>
              </a:spcBef>
              <a:buClr>
                <a:srgbClr val="4590B8"/>
              </a:buClr>
              <a:buSzPts val="1400"/>
              <a:buFont typeface="+mj-lt"/>
              <a:buChar char="◼"/>
            </a:pPr>
            <a:endParaRPr sz="1200" b="1" i="0" u="none" strike="noStrike" cap="none">
              <a:solidFill>
                <a:srgbClr val="FFFFFF"/>
              </a:solidFill>
              <a:latin typeface="Gill Sans" panose="020B0604020202020204" charset="0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4345161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12537</Words>
  <Application>Microsoft Office PowerPoint</Application>
  <PresentationFormat>Widescreen</PresentationFormat>
  <Paragraphs>2518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5" baseType="lpstr">
      <vt:lpstr>Arial</vt:lpstr>
      <vt:lpstr>Noto Sans Symbols</vt:lpstr>
      <vt:lpstr>Calibri</vt:lpstr>
      <vt:lpstr>Gill Sans</vt:lpstr>
      <vt:lpstr>Cambria</vt:lpstr>
      <vt:lpstr>Dividendo</vt:lpstr>
      <vt:lpstr>MANUAL CONVERSIÓN UNIDADES RESTFUL .NET</vt:lpstr>
      <vt:lpstr>PowerPoint Presentation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Carlos</cp:lastModifiedBy>
  <cp:revision>7</cp:revision>
  <dcterms:modified xsi:type="dcterms:W3CDTF">2026-10-27T17:28:20Z</dcterms:modified>
</cp:coreProperties>
</file>